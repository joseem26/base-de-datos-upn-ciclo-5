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up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327" y="320040"/>
            <a:ext cx="1164592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234440"/>
            <a:ext cx="10360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1500">
                <a:solidFill>
                  <a:srgbClr val="0B1B3D"/>
                </a:solidFill>
                <a:latin typeface="Calibri"/>
              </a:rPr>
              <a:t>UNIVERSIDAD PRIVADA DEL NORTE — FACULTAD DE INGENIERÍA
</a:t>
            </a:r>
          </a:p>
          <a:p>
            <a:pPr algn="ctr"/>
            <a:r>
              <a:rPr sz="1300">
                <a:solidFill>
                  <a:srgbClr val="666666"/>
                </a:solidFill>
                <a:latin typeface="Calibri"/>
              </a:rPr>
              <a:t>Carrera de Ingeniería de Sistemas Computacionales | Curso: Base de Datos (2026-1)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0907" y="2011680"/>
            <a:ext cx="2514600" cy="384048"/>
          </a:xfrm>
          <a:prstGeom prst="roundRect">
            <a:avLst/>
          </a:prstGeom>
          <a:solidFill>
            <a:srgbClr val="0B1B3D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C000"/>
                </a:solidFill>
                <a:latin typeface="Calibri"/>
              </a:rPr>
              <a:t>Caso Real: BGG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12667" y="2011680"/>
            <a:ext cx="2514600" cy="384048"/>
          </a:xfrm>
          <a:prstGeom prst="roundRect">
            <a:avLst/>
          </a:prstGeom>
          <a:solidFill>
            <a:srgbClr val="0B1B3D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C000"/>
                </a:solidFill>
                <a:latin typeface="Calibri"/>
              </a:rPr>
              <a:t>Patrón PARTY (Silverston)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64427" y="2011680"/>
            <a:ext cx="2514600" cy="384048"/>
          </a:xfrm>
          <a:prstGeom prst="roundRect">
            <a:avLst/>
          </a:prstGeom>
          <a:solidFill>
            <a:srgbClr val="0B1B3D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C000"/>
                </a:solidFill>
                <a:latin typeface="Calibri"/>
              </a:rPr>
              <a:t>SGBD: SQL Server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16187" y="2011680"/>
            <a:ext cx="2514600" cy="384048"/>
          </a:xfrm>
          <a:prstGeom prst="roundRect">
            <a:avLst/>
          </a:prstGeom>
          <a:solidFill>
            <a:srgbClr val="0B1B3D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C000"/>
                </a:solidFill>
                <a:latin typeface="Calibri"/>
              </a:rPr>
              <a:t>Ciclo 2026-1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0000"/>
                </a:solidFill>
                <a:latin typeface="Calibri"/>
              </a:rPr>
              <a:t>Diseño e Implementación de una Base de Datos Relacional para la Gestión de Microcréditos y Cobranza en Ruta (Caso BGG) aplicando el Patrón PARTY en SQL Server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66647" y="3977639"/>
            <a:ext cx="2377440" cy="685800"/>
          </a:xfrm>
          <a:prstGeom prst="roundRect">
            <a:avLst/>
          </a:prstGeom>
          <a:solidFill>
            <a:srgbClr val="FFF3CC"/>
          </a:solidFill>
          <a:ln w="15875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B3D"/>
                </a:solidFill>
                <a:latin typeface="Calibri"/>
              </a:rPr>
              <a:t>🏦  Caso Real BGG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6967" y="3977639"/>
            <a:ext cx="2377440" cy="685800"/>
          </a:xfrm>
          <a:prstGeom prst="roundRect">
            <a:avLst/>
          </a:prstGeom>
          <a:solidFill>
            <a:srgbClr val="FFF3CC"/>
          </a:solidFill>
          <a:ln w="15875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B3D"/>
                </a:solidFill>
                <a:latin typeface="Calibri"/>
              </a:rPr>
              <a:t>🧩  Patrón PARTY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7287" y="3977639"/>
            <a:ext cx="2377440" cy="685800"/>
          </a:xfrm>
          <a:prstGeom prst="roundRect">
            <a:avLst/>
          </a:prstGeom>
          <a:solidFill>
            <a:srgbClr val="FFF3CC"/>
          </a:solidFill>
          <a:ln w="15875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B3D"/>
                </a:solidFill>
                <a:latin typeface="Calibri"/>
              </a:rPr>
              <a:t>🖥️  SQL Server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47607" y="3977639"/>
            <a:ext cx="2377440" cy="685800"/>
          </a:xfrm>
          <a:prstGeom prst="roundRect">
            <a:avLst/>
          </a:prstGeom>
          <a:solidFill>
            <a:srgbClr val="FFF3CC"/>
          </a:solidFill>
          <a:ln w="15875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1B3D"/>
                </a:solidFill>
                <a:latin typeface="Calibri"/>
              </a:rPr>
              <a:t>🔁  AS-IS → TO-BE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937760"/>
            <a:ext cx="51206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b="1" sz="1300">
                <a:solidFill>
                  <a:srgbClr val="0B1B3D"/>
                </a:solidFill>
                <a:latin typeface="Calibri"/>
              </a:rPr>
              <a:t>Integrantes (% de Participación)</a:t>
            </a:r>
          </a:p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•  Aquino Rivera, Oswaldo Jader (25%)</a:t>
            </a:r>
          </a:p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•  Espinoza Morales, Jose Angel (25%)</a:t>
            </a:r>
          </a:p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•  León Ccahuana, Jeffre Carlos (25%)</a:t>
            </a:r>
          </a:p>
          <a:p>
            <a:pPr algn="l"/>
            <a:r>
              <a:rPr sz="1200">
                <a:solidFill>
                  <a:srgbClr val="000000"/>
                </a:solidFill>
                <a:latin typeface="Calibri"/>
              </a:rPr>
              <a:t>•  Ramos Guerra, Jaime Eloy (25%)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937760"/>
            <a:ext cx="512064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ctr"/>
            <a:r>
              <a:rPr b="1" sz="1300">
                <a:solidFill>
                  <a:srgbClr val="0B1B3D"/>
                </a:solidFill>
                <a:latin typeface="Calibri"/>
              </a:rPr>
              <a:t>Información del Proyecto</a:t>
            </a:r>
          </a:p>
          <a:p>
            <a:pPr algn="l"/>
            <a:r>
              <a:rPr b="1" sz="1200">
                <a:solidFill>
                  <a:srgbClr val="000000"/>
                </a:solidFill>
                <a:latin typeface="Calibri"/>
              </a:rPr>
              <a:t>Docente: </a:t>
            </a:r>
            <a:r>
              <a:rPr sz="1200">
                <a:solidFill>
                  <a:srgbClr val="000000"/>
                </a:solidFill>
                <a:latin typeface="Calibri"/>
              </a:rPr>
              <a:t>Juan Emilio Asto Vara</a:t>
            </a:r>
          </a:p>
          <a:p>
            <a:pPr algn="l"/>
            <a:r>
              <a:rPr b="1" sz="1200">
                <a:solidFill>
                  <a:srgbClr val="000000"/>
                </a:solidFill>
                <a:latin typeface="Calibri"/>
              </a:rPr>
              <a:t>Sede / Periodo: </a:t>
            </a:r>
            <a:r>
              <a:rPr sz="1200">
                <a:solidFill>
                  <a:srgbClr val="000000"/>
                </a:solidFill>
                <a:latin typeface="Calibri"/>
              </a:rPr>
              <a:t>Cajamarca – Perú, 2026-1</a:t>
            </a:r>
          </a:p>
          <a:p>
            <a:pPr algn="l"/>
            <a:r>
              <a:rPr b="1" sz="1200">
                <a:solidFill>
                  <a:srgbClr val="000000"/>
                </a:solidFill>
                <a:latin typeface="Calibri"/>
              </a:rPr>
              <a:t>SGBD: </a:t>
            </a:r>
            <a:r>
              <a:rPr sz="1200">
                <a:solidFill>
                  <a:srgbClr val="000000"/>
                </a:solidFill>
                <a:latin typeface="Calibri"/>
              </a:rPr>
              <a:t>Microsoft SQL Server</a:t>
            </a:r>
          </a:p>
          <a:p>
            <a:pPr algn="l"/>
            <a:r>
              <a:rPr b="1" sz="1200">
                <a:solidFill>
                  <a:srgbClr val="000000"/>
                </a:solidFill>
                <a:latin typeface="Calibri"/>
              </a:rPr>
              <a:t>Metodología: </a:t>
            </a:r>
            <a:r>
              <a:rPr sz="1200">
                <a:solidFill>
                  <a:srgbClr val="000000"/>
                </a:solidFill>
                <a:latin typeface="Calibri"/>
              </a:rPr>
              <a:t>AS-IS (Relacional) vs. TO-BE (PARTY)</a:t>
            </a:r>
          </a:p>
        </p:txBody>
      </p:sp>
      <p:pic>
        <p:nvPicPr>
          <p:cNvPr id="16" name="Picture 15" descr="bgg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0040"/>
            <a:ext cx="777240" cy="7772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0" y="6720840"/>
            <a:ext cx="121916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3D"/>
                </a:solidFill>
                <a:latin typeface="Calibri"/>
              </a:defRPr>
            </a:pPr>
            <a:r>
              <a:t>Presentación del Caso Real BGG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86968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p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711695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430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C000"/>
                </a:solidFill>
                <a:latin typeface="Calibri"/>
              </a:rPr>
              <a:t>• </a:t>
            </a:r>
            <a:r>
              <a:rPr b="1" sz="1600">
                <a:solidFill>
                  <a:srgbClr val="0B1B3D"/>
                </a:solidFill>
                <a:latin typeface="Calibri"/>
              </a:rPr>
              <a:t>Modelo de Negocio:</a:t>
            </a:r>
            <a:r>
              <a:rPr sz="1600">
                <a:solidFill>
                  <a:srgbClr val="000000"/>
                </a:solidFill>
                <a:latin typeface="Calibri"/>
              </a:rPr>
              <a:t> Entidad de microcréditos con esquema de préstamos rápidos y cobranza diaria/semanal en ruta ("gota a gota").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C000"/>
                </a:solidFill>
                <a:latin typeface="Calibri"/>
              </a:rPr>
              <a:t>• </a:t>
            </a:r>
            <a:r>
              <a:rPr b="1" sz="1600">
                <a:solidFill>
                  <a:srgbClr val="0B1B3D"/>
                </a:solidFill>
                <a:latin typeface="Calibri"/>
              </a:rPr>
              <a:t>Contexto Operativo:</a:t>
            </a:r>
            <a:r>
              <a:rPr sz="1600">
                <a:solidFill>
                  <a:srgbClr val="000000"/>
                </a:solidFill>
                <a:latin typeface="Calibri"/>
              </a:rPr>
              <a:t> Asignación dinámica de cobradores por zonas comerciales, múltiples préstamos en paralelo y requerimiento de avales/garantes solidarios.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C000"/>
                </a:solidFill>
                <a:latin typeface="Calibri"/>
              </a:rPr>
              <a:t>• </a:t>
            </a:r>
            <a:r>
              <a:rPr b="1" sz="1600">
                <a:solidFill>
                  <a:srgbClr val="0B1B3D"/>
                </a:solidFill>
                <a:latin typeface="Calibri"/>
              </a:rPr>
              <a:t>Relevancia y Fuentes Verificables del Fenómeno: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Instituto Peruano de Economía (IPE):</a:t>
            </a:r>
            <a:r>
              <a:rPr sz="1400">
                <a:solidFill>
                  <a:srgbClr val="000000"/>
                </a:solidFill>
                <a:latin typeface="Calibri"/>
              </a:rPr>
              <a:t> El crédito informal "gota a gota" creció del 22% (2022) al 35% (2024), alcanzando a ~211,000 familias con tasas anualizadas superiores al 1,400%.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Superintendencia de Banca, Seguros y AFP (SBS):</a:t>
            </a:r>
            <a:r>
              <a:rPr sz="1400">
                <a:solidFill>
                  <a:srgbClr val="000000"/>
                </a:solidFill>
                <a:latin typeface="Calibri"/>
              </a:rPr>
              <a:t> Fiscalización activa sobre más de 18 aplicaciones y esquemas informales de préstamo.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Código Penal Peruano (2023):</a:t>
            </a:r>
            <a:r>
              <a:rPr sz="1400">
                <a:solidFill>
                  <a:srgbClr val="000000"/>
                </a:solidFill>
                <a:latin typeface="Calibri"/>
              </a:rPr>
              <a:t> Tipificación explícita de delitos vinculados a usura extorsiva y cobro coactivo.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55080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  <a:latin typeface="Calibri"/>
              </a:defRPr>
            </a:pPr>
            <a:r>
              <a:t>Curso: Base de Datos — Proyecto Final BGG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1908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  <a:latin typeface="Calibri"/>
              </a:defRPr>
            </a:pPr>
            <a:r>
              <a:t>Diapositiva 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3D"/>
                </a:solidFill>
                <a:latin typeface="Calibri"/>
              </a:defRPr>
            </a:pPr>
            <a:r>
              <a:t>Problemática Identificada (Diagnóstico AS-IS)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86968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p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711695" cy="502920"/>
          </a:xfrm>
          <a:prstGeom prst="rect">
            <a:avLst/>
          </a:prstGeom>
        </p:spPr>
      </p:pic>
      <p:pic>
        <p:nvPicPr>
          <p:cNvPr id="5" name="Picture 4" descr="problematica_b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5432" y="1051560"/>
            <a:ext cx="8118087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285232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FFC000"/>
                </a:solidFill>
                <a:latin typeface="Calibri"/>
              </a:rPr>
              <a:t>• </a:t>
            </a:r>
            <a:r>
              <a:rPr b="1" sz="1300">
                <a:solidFill>
                  <a:srgbClr val="0B1B3D"/>
                </a:solidFill>
                <a:latin typeface="Calibri"/>
              </a:rPr>
              <a:t>Fragmentación por Roles:</a:t>
            </a:r>
            <a:r>
              <a:rPr sz="1300">
                <a:solidFill>
                  <a:srgbClr val="000000"/>
                </a:solidFill>
                <a:latin typeface="Calibri"/>
              </a:rPr>
              <a:t> Tablas aisladas (</a:t>
            </a:r>
            <a:r>
              <a:rPr sz="1300">
                <a:solidFill>
                  <a:srgbClr val="8A5A00"/>
                </a:solidFill>
                <a:latin typeface="Consolas"/>
              </a:rPr>
              <a:t>Clientes</a:t>
            </a:r>
            <a:r>
              <a:rPr sz="1300">
                <a:solidFill>
                  <a:srgbClr val="000000"/>
                </a:solidFill>
                <a:latin typeface="Calibri"/>
              </a:rPr>
              <a:t>, </a:t>
            </a:r>
            <a:r>
              <a:rPr sz="1300">
                <a:solidFill>
                  <a:srgbClr val="8A5A00"/>
                </a:solidFill>
                <a:latin typeface="Consolas"/>
              </a:rPr>
              <a:t>Avales</a:t>
            </a:r>
            <a:r>
              <a:rPr sz="1300">
                <a:solidFill>
                  <a:srgbClr val="000000"/>
                </a:solidFill>
                <a:latin typeface="Calibri"/>
              </a:rPr>
              <a:t>, </a:t>
            </a:r>
            <a:r>
              <a:rPr sz="1300">
                <a:solidFill>
                  <a:srgbClr val="8A5A00"/>
                </a:solidFill>
                <a:latin typeface="Consolas"/>
              </a:rPr>
              <a:t>Cobradores</a:t>
            </a:r>
            <a:r>
              <a:rPr sz="1300">
                <a:solidFill>
                  <a:srgbClr val="000000"/>
                </a:solidFill>
                <a:latin typeface="Calibri"/>
              </a:rPr>
              <a:t>) con columnas redundantes.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C000"/>
                </a:solidFill>
                <a:latin typeface="Calibri"/>
              </a:rPr>
              <a:t>• </a:t>
            </a:r>
            <a:r>
              <a:rPr b="1" sz="1300">
                <a:solidFill>
                  <a:srgbClr val="0B1B3D"/>
                </a:solidFill>
                <a:latin typeface="Calibri"/>
              </a:rPr>
              <a:t>Duplicación Crítica:</a:t>
            </a:r>
            <a:r>
              <a:rPr sz="1300">
                <a:solidFill>
                  <a:srgbClr val="000000"/>
                </a:solidFill>
                <a:latin typeface="Calibri"/>
              </a:rPr>
              <a:t> Una misma persona reingresada múltiples veces si actúa a la vez como cliente y aval.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C000"/>
                </a:solidFill>
                <a:latin typeface="Calibri"/>
              </a:rPr>
              <a:t>• </a:t>
            </a:r>
            <a:r>
              <a:rPr b="1" sz="1300">
                <a:solidFill>
                  <a:srgbClr val="0B1B3D"/>
                </a:solidFill>
                <a:latin typeface="Calibri"/>
              </a:rPr>
              <a:t>Inconsistencia de Datos:</a:t>
            </a:r>
            <a:r>
              <a:rPr sz="1300">
                <a:solidFill>
                  <a:srgbClr val="000000"/>
                </a:solidFill>
                <a:latin typeface="Calibri"/>
              </a:rPr>
              <a:t> Teléfonos y domicilios desactualizados en una tabla mientras permanecen obsoletos en otra.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C000"/>
                </a:solidFill>
                <a:latin typeface="Calibri"/>
              </a:rPr>
              <a:t>• </a:t>
            </a:r>
            <a:r>
              <a:rPr b="1" sz="1300">
                <a:solidFill>
                  <a:srgbClr val="0B1B3D"/>
                </a:solidFill>
                <a:latin typeface="Calibri"/>
              </a:rPr>
              <a:t>Amnesia Histórica:</a:t>
            </a:r>
            <a:r>
              <a:rPr sz="1300">
                <a:solidFill>
                  <a:srgbClr val="000000"/>
                </a:solidFill>
                <a:latin typeface="Calibri"/>
              </a:rPr>
              <a:t> Cero trazabilidad temporal en asignación de rutas y cambios de avales.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55080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  <a:latin typeface="Calibri"/>
              </a:defRPr>
            </a:pPr>
            <a:r>
              <a:t>Curso: Base de Datos — Proyecto Final BGG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1908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  <a:latin typeface="Calibri"/>
              </a:defRPr>
            </a:pPr>
            <a:r>
              <a:t>Diapositiva 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3D"/>
                </a:solidFill>
                <a:latin typeface="Calibri"/>
              </a:defRPr>
            </a:pPr>
            <a:r>
              <a:t>Análisis del Entorno (Diagrama SEPTE)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86968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p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711695" cy="502920"/>
          </a:xfrm>
          <a:prstGeom prst="rect">
            <a:avLst/>
          </a:prstGeom>
        </p:spPr>
      </p:pic>
      <p:pic>
        <p:nvPicPr>
          <p:cNvPr id="5" name="Picture 4" descr="septe_b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8210" y="1051560"/>
            <a:ext cx="9292531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285232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FFC000"/>
                </a:solidFill>
                <a:latin typeface="Calibri"/>
              </a:rPr>
              <a:t>• </a:t>
            </a:r>
            <a:r>
              <a:rPr b="1" sz="1300">
                <a:solidFill>
                  <a:srgbClr val="0B1B3D"/>
                </a:solidFill>
                <a:latin typeface="Calibri"/>
              </a:rPr>
              <a:t>Social:</a:t>
            </a:r>
            <a:r>
              <a:rPr sz="1300">
                <a:solidFill>
                  <a:srgbClr val="000000"/>
                </a:solidFill>
                <a:latin typeface="Calibri"/>
              </a:rPr>
              <a:t> Alta vulnerabilidad financiera e informalidad crediticia en microcomerciantes.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C000"/>
                </a:solidFill>
                <a:latin typeface="Calibri"/>
              </a:rPr>
              <a:t>• </a:t>
            </a:r>
            <a:r>
              <a:rPr b="1" sz="1300">
                <a:solidFill>
                  <a:srgbClr val="0B1B3D"/>
                </a:solidFill>
                <a:latin typeface="Calibri"/>
              </a:rPr>
              <a:t>Económico:</a:t>
            </a:r>
            <a:r>
              <a:rPr sz="1300">
                <a:solidFill>
                  <a:srgbClr val="000000"/>
                </a:solidFill>
                <a:latin typeface="Calibri"/>
              </a:rPr>
              <a:t> Tasas de interés &gt;1,400% anual; necesidad crítica de control de mora y saldos diarios.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C000"/>
                </a:solidFill>
                <a:latin typeface="Calibri"/>
              </a:rPr>
              <a:t>• </a:t>
            </a:r>
            <a:r>
              <a:rPr b="1" sz="1300">
                <a:solidFill>
                  <a:srgbClr val="0B1B3D"/>
                </a:solidFill>
                <a:latin typeface="Calibri"/>
              </a:rPr>
              <a:t>Político/Legal:</a:t>
            </a:r>
            <a:r>
              <a:rPr sz="1300">
                <a:solidFill>
                  <a:srgbClr val="000000"/>
                </a:solidFill>
                <a:latin typeface="Calibri"/>
              </a:rPr>
              <a:t> Tipificación de usura extorsiva (Código Penal 2023) y supervisión SBS.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C000"/>
                </a:solidFill>
                <a:latin typeface="Calibri"/>
              </a:rPr>
              <a:t>• </a:t>
            </a:r>
            <a:r>
              <a:rPr b="1" sz="1300">
                <a:solidFill>
                  <a:srgbClr val="0B1B3D"/>
                </a:solidFill>
                <a:latin typeface="Calibri"/>
              </a:rPr>
              <a:t>Tecnológico:</a:t>
            </a:r>
            <a:r>
              <a:rPr sz="1300">
                <a:solidFill>
                  <a:srgbClr val="000000"/>
                </a:solidFill>
                <a:latin typeface="Calibri"/>
              </a:rPr>
              <a:t> Manejo informal en cuadernos/hojas de cálculo sin SGBD transaccional centralizado.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55080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  <a:latin typeface="Calibri"/>
              </a:defRPr>
            </a:pPr>
            <a:r>
              <a:t>Curso: Base de Datos — Proyecto Final BGG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1908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  <a:latin typeface="Calibri"/>
              </a:defRPr>
            </a:pPr>
            <a:r>
              <a:t>Diapositiva 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3D"/>
                </a:solidFill>
                <a:latin typeface="Calibri"/>
              </a:defRPr>
            </a:pPr>
            <a:r>
              <a:t>Objetivos del Proyecto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86968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p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711695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1430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FFC000"/>
                </a:solidFill>
                <a:latin typeface="Calibri"/>
              </a:rPr>
              <a:t>• </a:t>
            </a:r>
            <a:r>
              <a:rPr sz="1500">
                <a:solidFill>
                  <a:srgbClr val="000000"/>
                </a:solidFill>
                <a:latin typeface="Calibri"/>
              </a:rPr>
              <a:t>Diseñar e implementar una base de datos relacional en SQL Server bajo el patrón PARTY para el caso BGG, unificando la identidad de personas y organizaciones para eliminar redundancias y habilitar trazabilidad histórica frente al modelo AS-IS.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48840"/>
            <a:ext cx="5394960" cy="365760"/>
          </a:xfrm>
          <a:prstGeom prst="rect">
            <a:avLst/>
          </a:prstGeom>
          <a:solidFill>
            <a:srgbClr val="0B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C000"/>
                </a:solidFill>
                <a:latin typeface="Calibri"/>
              </a:rPr>
              <a:t>Objetivos Directos (Técnicos)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2148840"/>
            <a:ext cx="5394960" cy="365760"/>
          </a:xfrm>
          <a:prstGeom prst="rect">
            <a:avLst/>
          </a:prstGeom>
          <a:solidFill>
            <a:srgbClr val="0B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FFC000"/>
                </a:solidFill>
                <a:latin typeface="Calibri"/>
              </a:rPr>
              <a:t>Objetivos Indirectos (Impacto de Negocio)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5394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FFC000"/>
                </a:solidFill>
                <a:latin typeface="Calibri"/>
              </a:rPr>
              <a:t>• </a:t>
            </a:r>
            <a:r>
              <a:rPr b="1" sz="1400">
                <a:solidFill>
                  <a:srgbClr val="0B1B3D"/>
                </a:solidFill>
                <a:latin typeface="Calibri"/>
              </a:rPr>
              <a:t>OD1:</a:t>
            </a:r>
            <a:r>
              <a:rPr sz="1400">
                <a:solidFill>
                  <a:srgbClr val="000000"/>
                </a:solidFill>
                <a:latin typeface="Calibri"/>
              </a:rPr>
              <a:t> Modelar la identidad desacoplada (</a:t>
            </a:r>
            <a:r>
              <a:rPr sz="1400">
                <a:solidFill>
                  <a:srgbClr val="8A5A00"/>
                </a:solidFill>
                <a:latin typeface="Consolas"/>
              </a:rPr>
              <a:t>PARTY</a:t>
            </a:r>
            <a:r>
              <a:rPr sz="1400">
                <a:solidFill>
                  <a:srgbClr val="000000"/>
                </a:solidFill>
                <a:latin typeface="Calibri"/>
              </a:rPr>
              <a:t>, </a:t>
            </a:r>
            <a:r>
              <a:rPr sz="1400">
                <a:solidFill>
                  <a:srgbClr val="8A5A00"/>
                </a:solidFill>
                <a:latin typeface="Consolas"/>
              </a:rPr>
              <a:t>PERSON</a:t>
            </a:r>
            <a:r>
              <a:rPr sz="1400">
                <a:solidFill>
                  <a:srgbClr val="000000"/>
                </a:solidFill>
                <a:latin typeface="Calibri"/>
              </a:rPr>
              <a:t>, </a:t>
            </a:r>
            <a:r>
              <a:rPr sz="1400">
                <a:solidFill>
                  <a:srgbClr val="8A5A00"/>
                </a:solidFill>
                <a:latin typeface="Consolas"/>
              </a:rPr>
              <a:t>ORGANIZATION</a:t>
            </a:r>
            <a:r>
              <a:rPr sz="1400">
                <a:solidFill>
                  <a:srgbClr val="000000"/>
                </a:solidFill>
                <a:latin typeface="Calibri"/>
              </a:rPr>
              <a:t>) y mecanismos de contacto en 3FN/BCNF.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C000"/>
                </a:solidFill>
                <a:latin typeface="Calibri"/>
              </a:rPr>
              <a:t>• </a:t>
            </a:r>
            <a:r>
              <a:rPr b="1" sz="1400">
                <a:solidFill>
                  <a:srgbClr val="0B1B3D"/>
                </a:solidFill>
                <a:latin typeface="Calibri"/>
              </a:rPr>
              <a:t>OD2:</a:t>
            </a:r>
            <a:r>
              <a:rPr sz="1400">
                <a:solidFill>
                  <a:srgbClr val="000000"/>
                </a:solidFill>
                <a:latin typeface="Calibri"/>
              </a:rPr>
              <a:t> Implementar relaciones temporales dirigidas (</a:t>
            </a:r>
            <a:r>
              <a:rPr sz="1400">
                <a:solidFill>
                  <a:srgbClr val="8A5A00"/>
                </a:solidFill>
                <a:latin typeface="Consolas"/>
              </a:rPr>
              <a:t>PARTY_RELATIONSHIP</a:t>
            </a:r>
            <a:r>
              <a:rPr sz="1400">
                <a:solidFill>
                  <a:srgbClr val="000000"/>
                </a:solidFill>
                <a:latin typeface="Calibri"/>
              </a:rPr>
              <a:t>) para control histórico de avales y cobradores.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C000"/>
                </a:solidFill>
                <a:latin typeface="Calibri"/>
              </a:rPr>
              <a:t>• </a:t>
            </a:r>
            <a:r>
              <a:rPr b="1" sz="1400">
                <a:solidFill>
                  <a:srgbClr val="0B1B3D"/>
                </a:solidFill>
                <a:latin typeface="Calibri"/>
              </a:rPr>
              <a:t>OD3:</a:t>
            </a:r>
            <a:r>
              <a:rPr sz="1400">
                <a:solidFill>
                  <a:srgbClr val="000000"/>
                </a:solidFill>
                <a:latin typeface="Calibri"/>
              </a:rPr>
              <a:t> Construir el esquema financiero transaccional para desembolsos, cuotas y liquidación diaria de cobranza.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C000"/>
                </a:solidFill>
                <a:latin typeface="Calibri"/>
              </a:rPr>
              <a:t>• </a:t>
            </a:r>
            <a:r>
              <a:rPr b="1" sz="1400">
                <a:solidFill>
                  <a:srgbClr val="0B1B3D"/>
                </a:solidFill>
                <a:latin typeface="Calibri"/>
              </a:rPr>
              <a:t>OD4:</a:t>
            </a:r>
            <a:r>
              <a:rPr sz="1400">
                <a:solidFill>
                  <a:srgbClr val="000000"/>
                </a:solidFill>
                <a:latin typeface="Calibri"/>
              </a:rPr>
              <a:t> Configurar seguridad basada en roles (DCL) y política de contingencia mediante copias de seguridad en SQL Server.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2651760"/>
            <a:ext cx="5394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FFC000"/>
                </a:solidFill>
                <a:latin typeface="Calibri"/>
              </a:rPr>
              <a:t>• </a:t>
            </a:r>
            <a:r>
              <a:rPr b="1" sz="1400">
                <a:solidFill>
                  <a:srgbClr val="0B1B3D"/>
                </a:solidFill>
                <a:latin typeface="Calibri"/>
              </a:rPr>
              <a:t>OI1:</a:t>
            </a:r>
            <a:r>
              <a:rPr sz="1400">
                <a:solidFill>
                  <a:srgbClr val="000000"/>
                </a:solidFill>
                <a:latin typeface="Calibri"/>
              </a:rPr>
              <a:t> Mitigar el riesgo crediticio identificando concentración y sobreendeudamiento de avales en tiempo real.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C000"/>
                </a:solidFill>
                <a:latin typeface="Calibri"/>
              </a:rPr>
              <a:t>• </a:t>
            </a:r>
            <a:r>
              <a:rPr b="1" sz="1400">
                <a:solidFill>
                  <a:srgbClr val="0B1B3D"/>
                </a:solidFill>
                <a:latin typeface="Calibri"/>
              </a:rPr>
              <a:t>OI2:</a:t>
            </a:r>
            <a:r>
              <a:rPr sz="1400">
                <a:solidFill>
                  <a:srgbClr val="000000"/>
                </a:solidFill>
                <a:latin typeface="Calibri"/>
              </a:rPr>
              <a:t> Garantizar auditoría y trazabilidad histórica completa ante fiscalizaciones regulatorias (SBS / Ley).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FFC000"/>
                </a:solidFill>
                <a:latin typeface="Calibri"/>
              </a:rPr>
              <a:t>• </a:t>
            </a:r>
            <a:r>
              <a:rPr b="1" sz="1400">
                <a:solidFill>
                  <a:srgbClr val="0B1B3D"/>
                </a:solidFill>
                <a:latin typeface="Calibri"/>
              </a:rPr>
              <a:t>OI3:</a:t>
            </a:r>
            <a:r>
              <a:rPr sz="1400">
                <a:solidFill>
                  <a:srgbClr val="000000"/>
                </a:solidFill>
                <a:latin typeface="Calibri"/>
              </a:rPr>
              <a:t> Optimizar la operatividad en ruta evitando errores de cobro por datos desactualizados.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55080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  <a:latin typeface="Calibri"/>
              </a:defRPr>
            </a:pPr>
            <a:r>
              <a:t>Curso: Base de Datos — Proyecto Final BGG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80015" y="641908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  <a:latin typeface="Calibri"/>
              </a:defRPr>
            </a:pPr>
            <a:r>
              <a:t>Diapositiva 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3D"/>
                </a:solidFill>
                <a:latin typeface="Calibri"/>
              </a:defRPr>
            </a:pPr>
            <a:r>
              <a:t>Modelado del Negocio: Modelo de Datos AS-IS vs. TO-BE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86968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p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711695" cy="502920"/>
          </a:xfrm>
          <a:prstGeom prst="rect">
            <a:avLst/>
          </a:prstGeom>
        </p:spPr>
      </p:pic>
      <p:pic>
        <p:nvPicPr>
          <p:cNvPr id="5" name="Picture 4" descr="as_is_vs_to_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2318" y="1051560"/>
            <a:ext cx="9264315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285232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FFC000"/>
                </a:solidFill>
                <a:latin typeface="Calibri"/>
              </a:rPr>
              <a:t>• </a:t>
            </a:r>
            <a:r>
              <a:rPr b="1" sz="1300">
                <a:solidFill>
                  <a:srgbClr val="0B1B3D"/>
                </a:solidFill>
                <a:latin typeface="Calibri"/>
              </a:rPr>
              <a:t>Modelo AS-IS (Relacional Convencional / Patologías):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666666"/>
                </a:solidFill>
                <a:latin typeface="Calibri"/>
              </a:rPr>
              <a:t>– </a:t>
            </a:r>
            <a:r>
              <a:rPr sz="1200">
                <a:solidFill>
                  <a:srgbClr val="000000"/>
                </a:solidFill>
                <a:latin typeface="Calibri"/>
              </a:rPr>
              <a:t>Tablas separadas por rol: </a:t>
            </a:r>
            <a:r>
              <a:rPr sz="1200">
                <a:solidFill>
                  <a:srgbClr val="8A5A00"/>
                </a:solidFill>
                <a:latin typeface="Consolas"/>
              </a:rPr>
              <a:t>CLIENTES</a:t>
            </a:r>
            <a:r>
              <a:rPr sz="1200">
                <a:solidFill>
                  <a:srgbClr val="000000"/>
                </a:solidFill>
                <a:latin typeface="Calibri"/>
              </a:rPr>
              <a:t>, </a:t>
            </a:r>
            <a:r>
              <a:rPr sz="1200">
                <a:solidFill>
                  <a:srgbClr val="8A5A00"/>
                </a:solidFill>
                <a:latin typeface="Consolas"/>
              </a:rPr>
              <a:t>AVALES</a:t>
            </a:r>
            <a:r>
              <a:rPr sz="1200">
                <a:solidFill>
                  <a:srgbClr val="000000"/>
                </a:solidFill>
                <a:latin typeface="Calibri"/>
              </a:rPr>
              <a:t>, </a:t>
            </a:r>
            <a:r>
              <a:rPr sz="1200">
                <a:solidFill>
                  <a:srgbClr val="8A5A00"/>
                </a:solidFill>
                <a:latin typeface="Consolas"/>
              </a:rPr>
              <a:t>COBRADORES</a:t>
            </a:r>
            <a:r>
              <a:rPr sz="1200">
                <a:solidFill>
                  <a:srgbClr val="000000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666666"/>
                </a:solidFill>
                <a:latin typeface="Calibri"/>
              </a:rPr>
              <a:t>– </a:t>
            </a:r>
            <a:r>
              <a:rPr sz="1200">
                <a:solidFill>
                  <a:srgbClr val="000000"/>
                </a:solidFill>
                <a:latin typeface="Calibri"/>
              </a:rPr>
              <a:t>Columnas redundantes de contacto y documento en cada tabla (</a:t>
            </a:r>
            <a:r>
              <a:rPr sz="1200">
                <a:solidFill>
                  <a:srgbClr val="8A5A00"/>
                </a:solidFill>
                <a:latin typeface="Consolas"/>
              </a:rPr>
              <a:t>nombres</a:t>
            </a:r>
            <a:r>
              <a:rPr sz="1200">
                <a:solidFill>
                  <a:srgbClr val="000000"/>
                </a:solidFill>
                <a:latin typeface="Calibri"/>
              </a:rPr>
              <a:t>, </a:t>
            </a:r>
            <a:r>
              <a:rPr sz="1200">
                <a:solidFill>
                  <a:srgbClr val="8A5A00"/>
                </a:solidFill>
                <a:latin typeface="Consolas"/>
              </a:rPr>
              <a:t>dni</a:t>
            </a:r>
            <a:r>
              <a:rPr sz="1200">
                <a:solidFill>
                  <a:srgbClr val="000000"/>
                </a:solidFill>
                <a:latin typeface="Calibri"/>
              </a:rPr>
              <a:t>, </a:t>
            </a:r>
            <a:r>
              <a:rPr sz="1200">
                <a:solidFill>
                  <a:srgbClr val="8A5A00"/>
                </a:solidFill>
                <a:latin typeface="Consolas"/>
              </a:rPr>
              <a:t>telefono</a:t>
            </a:r>
            <a:r>
              <a:rPr sz="1200">
                <a:solidFill>
                  <a:srgbClr val="000000"/>
                </a:solidFill>
                <a:latin typeface="Calibri"/>
              </a:rPr>
              <a:t>, </a:t>
            </a:r>
            <a:r>
              <a:rPr sz="1200">
                <a:solidFill>
                  <a:srgbClr val="8A5A00"/>
                </a:solidFill>
                <a:latin typeface="Consolas"/>
              </a:rPr>
              <a:t>direccion</a:t>
            </a:r>
            <a:r>
              <a:rPr sz="1200">
                <a:solidFill>
                  <a:srgbClr val="000000"/>
                </a:solidFill>
                <a:latin typeface="Calibri"/>
              </a:rPr>
              <a:t>).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666666"/>
                </a:solidFill>
                <a:latin typeface="Calibri"/>
              </a:rPr>
              <a:t>– </a:t>
            </a:r>
            <a:r>
              <a:rPr sz="1200">
                <a:solidFill>
                  <a:srgbClr val="000000"/>
                </a:solidFill>
                <a:latin typeface="Calibri"/>
              </a:rPr>
              <a:t>Imposibilidad de registrar cambio o coexistencia de roles sin duplicar registros; sin historial temporal.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55080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  <a:latin typeface="Calibri"/>
              </a:defRPr>
            </a:pPr>
            <a:r>
              <a:t>Curso: Base de Datos — Proyecto Final BGG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1908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  <a:latin typeface="Calibri"/>
              </a:defRPr>
            </a:pPr>
            <a:r>
              <a:t>Diapositiva 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3D"/>
                </a:solidFill>
                <a:latin typeface="Calibri"/>
              </a:defRPr>
            </a:pPr>
            <a:r>
              <a:t>Fundamento del Patrón de Modelado PARTY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86968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p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711695" cy="502920"/>
          </a:xfrm>
          <a:prstGeom prst="rect">
            <a:avLst/>
          </a:prstGeom>
        </p:spPr>
      </p:pic>
      <p:pic>
        <p:nvPicPr>
          <p:cNvPr id="5" name="Picture 4" descr="patron_party_fundamen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476" y="1051560"/>
            <a:ext cx="990600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285232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FFC000"/>
                </a:solidFill>
                <a:latin typeface="Calibri"/>
              </a:rPr>
              <a:t>• </a:t>
            </a:r>
            <a:r>
              <a:rPr b="1" sz="1300">
                <a:solidFill>
                  <a:srgbClr val="0B1B3D"/>
                </a:solidFill>
                <a:latin typeface="Calibri"/>
              </a:rPr>
              <a:t>Referencia Académica:</a:t>
            </a:r>
            <a:r>
              <a:rPr sz="1300">
                <a:solidFill>
                  <a:srgbClr val="000000"/>
                </a:solidFill>
                <a:latin typeface="Calibri"/>
              </a:rPr>
              <a:t> Silverston, Len (2001). </a:t>
            </a:r>
            <a:r>
              <a:rPr i="1" sz="1300">
                <a:solidFill>
                  <a:srgbClr val="000000"/>
                </a:solidFill>
                <a:latin typeface="Calibri"/>
              </a:rPr>
              <a:t>The Data Model Resource Book (Vol. 1)</a:t>
            </a:r>
            <a:r>
              <a:rPr sz="1300">
                <a:solidFill>
                  <a:srgbClr val="000000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C000"/>
                </a:solidFill>
                <a:latin typeface="Calibri"/>
              </a:rPr>
              <a:t>• </a:t>
            </a:r>
            <a:r>
              <a:rPr b="1" sz="1300">
                <a:solidFill>
                  <a:srgbClr val="0B1B3D"/>
                </a:solidFill>
                <a:latin typeface="Calibri"/>
              </a:rPr>
              <a:t>Separación de Responsabilidades en Tres Preguntas: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666666"/>
                </a:solidFill>
                <a:latin typeface="Calibri"/>
              </a:rPr>
              <a:t>– </a:t>
            </a:r>
            <a:r>
              <a:rPr b="1" sz="1200">
                <a:solidFill>
                  <a:srgbClr val="0B1B3D"/>
                </a:solidFill>
                <a:latin typeface="Calibri"/>
              </a:rPr>
              <a:t>1. ¿Quién existe? (Identidad Ontológica):</a:t>
            </a:r>
            <a:r>
              <a:rPr sz="1200">
                <a:solidFill>
                  <a:srgbClr val="000000"/>
                </a:solidFill>
                <a:latin typeface="Calibri"/>
              </a:rPr>
              <a:t> </a:t>
            </a:r>
            <a:r>
              <a:rPr sz="1200">
                <a:solidFill>
                  <a:srgbClr val="8A5A00"/>
                </a:solidFill>
                <a:latin typeface="Consolas"/>
              </a:rPr>
              <a:t>PARTY</a:t>
            </a:r>
            <a:r>
              <a:rPr sz="1200">
                <a:solidFill>
                  <a:srgbClr val="000000"/>
                </a:solidFill>
                <a:latin typeface="Calibri"/>
              </a:rPr>
              <a:t>, </a:t>
            </a:r>
            <a:r>
              <a:rPr sz="1200">
                <a:solidFill>
                  <a:srgbClr val="8A5A00"/>
                </a:solidFill>
                <a:latin typeface="Consolas"/>
              </a:rPr>
              <a:t>PERSON</a:t>
            </a:r>
            <a:r>
              <a:rPr sz="1200">
                <a:solidFill>
                  <a:srgbClr val="000000"/>
                </a:solidFill>
                <a:latin typeface="Calibri"/>
              </a:rPr>
              <a:t>, </a:t>
            </a:r>
            <a:r>
              <a:rPr sz="1200">
                <a:solidFill>
                  <a:srgbClr val="8A5A00"/>
                </a:solidFill>
                <a:latin typeface="Consolas"/>
              </a:rPr>
              <a:t>ORGANIZATION</a:t>
            </a:r>
            <a:r>
              <a:rPr sz="1200">
                <a:solidFill>
                  <a:srgbClr val="000000"/>
                </a:solidFill>
                <a:latin typeface="Calibri"/>
              </a:rPr>
              <a:t> (inmutables, con ID subrogado).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666666"/>
                </a:solidFill>
                <a:latin typeface="Calibri"/>
              </a:rPr>
              <a:t>– </a:t>
            </a:r>
            <a:r>
              <a:rPr b="1" sz="1200">
                <a:solidFill>
                  <a:srgbClr val="0B1B3D"/>
                </a:solidFill>
                <a:latin typeface="Calibri"/>
              </a:rPr>
              <a:t>2. ¿Qué función ejerce? (Rol de Negocio):</a:t>
            </a:r>
            <a:r>
              <a:rPr sz="1200">
                <a:solidFill>
                  <a:srgbClr val="000000"/>
                </a:solidFill>
                <a:latin typeface="Calibri"/>
              </a:rPr>
              <a:t> </a:t>
            </a:r>
            <a:r>
              <a:rPr sz="1200">
                <a:solidFill>
                  <a:srgbClr val="8A5A00"/>
                </a:solidFill>
                <a:latin typeface="Consolas"/>
              </a:rPr>
              <a:t>PARTY_ROLE</a:t>
            </a:r>
            <a:r>
              <a:rPr sz="1200">
                <a:solidFill>
                  <a:srgbClr val="000000"/>
                </a:solidFill>
                <a:latin typeface="Calibri"/>
              </a:rPr>
              <a:t> (</a:t>
            </a:r>
            <a:r>
              <a:rPr sz="1200">
                <a:solidFill>
                  <a:srgbClr val="8A5A00"/>
                </a:solidFill>
                <a:latin typeface="Consolas"/>
              </a:rPr>
              <a:t>PRESTATARIO</a:t>
            </a:r>
            <a:r>
              <a:rPr sz="1200">
                <a:solidFill>
                  <a:srgbClr val="000000"/>
                </a:solidFill>
                <a:latin typeface="Calibri"/>
              </a:rPr>
              <a:t>, </a:t>
            </a:r>
            <a:r>
              <a:rPr sz="1200">
                <a:solidFill>
                  <a:srgbClr val="8A5A00"/>
                </a:solidFill>
                <a:latin typeface="Consolas"/>
              </a:rPr>
              <a:t>AVAL</a:t>
            </a:r>
            <a:r>
              <a:rPr sz="1200">
                <a:solidFill>
                  <a:srgbClr val="000000"/>
                </a:solidFill>
                <a:latin typeface="Calibri"/>
              </a:rPr>
              <a:t>, </a:t>
            </a:r>
            <a:r>
              <a:rPr sz="1200">
                <a:solidFill>
                  <a:srgbClr val="8A5A00"/>
                </a:solidFill>
                <a:latin typeface="Consolas"/>
              </a:rPr>
              <a:t>COBRADOR</a:t>
            </a:r>
            <a:r>
              <a:rPr sz="1200">
                <a:solidFill>
                  <a:srgbClr val="000000"/>
                </a:solidFill>
                <a:latin typeface="Calibri"/>
              </a:rPr>
              <a:t>) con vigencia temporal.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55080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  <a:latin typeface="Calibri"/>
              </a:defRPr>
            </a:pPr>
            <a:r>
              <a:t>Curso: Base de Datos — Proyecto Final BGG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1908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  <a:latin typeface="Calibri"/>
              </a:defRPr>
            </a:pPr>
            <a:r>
              <a:t>Diapositiva 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3D"/>
                </a:solidFill>
                <a:latin typeface="Calibri"/>
              </a:defRPr>
            </a:pPr>
            <a:r>
              <a:t>Modelo Conceptual y Lógico TO-BE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86968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p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711695" cy="502920"/>
          </a:xfrm>
          <a:prstGeom prst="rect">
            <a:avLst/>
          </a:prstGeom>
        </p:spPr>
      </p:pic>
      <p:pic>
        <p:nvPicPr>
          <p:cNvPr id="5" name="Picture 4" descr="er_b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7916" y="1051560"/>
            <a:ext cx="8453120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285232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FFC000"/>
                </a:solidFill>
                <a:latin typeface="Calibri"/>
              </a:rPr>
              <a:t>• </a:t>
            </a:r>
            <a:r>
              <a:rPr b="1" sz="1300">
                <a:solidFill>
                  <a:srgbClr val="0B1B3D"/>
                </a:solidFill>
                <a:latin typeface="Calibri"/>
              </a:rPr>
              <a:t>Núcleo de Identidad:</a:t>
            </a:r>
            <a:r>
              <a:rPr sz="1300">
                <a:solidFill>
                  <a:srgbClr val="000000"/>
                </a:solidFill>
                <a:latin typeface="Calibri"/>
              </a:rPr>
              <a:t> </a:t>
            </a:r>
            <a:r>
              <a:rPr sz="1300">
                <a:solidFill>
                  <a:srgbClr val="8A5A00"/>
                </a:solidFill>
                <a:latin typeface="Consolas"/>
              </a:rPr>
              <a:t>PARTY</a:t>
            </a:r>
            <a:r>
              <a:rPr sz="1300">
                <a:solidFill>
                  <a:srgbClr val="000000"/>
                </a:solidFill>
                <a:latin typeface="Calibri"/>
              </a:rPr>
              <a:t> generaliza a </a:t>
            </a:r>
            <a:r>
              <a:rPr sz="1300">
                <a:solidFill>
                  <a:srgbClr val="8A5A00"/>
                </a:solidFill>
                <a:latin typeface="Consolas"/>
              </a:rPr>
              <a:t>PERSON</a:t>
            </a:r>
            <a:r>
              <a:rPr sz="1300">
                <a:solidFill>
                  <a:srgbClr val="000000"/>
                </a:solidFill>
                <a:latin typeface="Calibri"/>
              </a:rPr>
              <a:t> y </a:t>
            </a:r>
            <a:r>
              <a:rPr sz="1300">
                <a:solidFill>
                  <a:srgbClr val="8A5A00"/>
                </a:solidFill>
                <a:latin typeface="Consolas"/>
              </a:rPr>
              <a:t>ORGANIZATION</a:t>
            </a:r>
            <a:r>
              <a:rPr sz="1300">
                <a:solidFill>
                  <a:srgbClr val="000000"/>
                </a:solidFill>
                <a:latin typeface="Calibri"/>
              </a:rPr>
              <a:t> mediante subtipado 1:1 exclusivo.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C000"/>
                </a:solidFill>
                <a:latin typeface="Calibri"/>
              </a:rPr>
              <a:t>• </a:t>
            </a:r>
            <a:r>
              <a:rPr b="1" sz="1300">
                <a:solidFill>
                  <a:srgbClr val="0B1B3D"/>
                </a:solidFill>
                <a:latin typeface="Calibri"/>
              </a:rPr>
              <a:t>Mecanismos y Documentos:</a:t>
            </a:r>
            <a:r>
              <a:rPr sz="1300">
                <a:solidFill>
                  <a:srgbClr val="000000"/>
                </a:solidFill>
                <a:latin typeface="Calibri"/>
              </a:rPr>
              <a:t> </a:t>
            </a:r>
            <a:r>
              <a:rPr sz="1300">
                <a:solidFill>
                  <a:srgbClr val="8A5A00"/>
                </a:solidFill>
                <a:latin typeface="Consolas"/>
              </a:rPr>
              <a:t>PARTY_IDENTIFIER</a:t>
            </a:r>
            <a:r>
              <a:rPr sz="1300">
                <a:solidFill>
                  <a:srgbClr val="000000"/>
                </a:solidFill>
                <a:latin typeface="Calibri"/>
              </a:rPr>
              <a:t> (DNI, RUC, CE) y </a:t>
            </a:r>
            <a:r>
              <a:rPr sz="1300">
                <a:solidFill>
                  <a:srgbClr val="8A5A00"/>
                </a:solidFill>
                <a:latin typeface="Consolas"/>
              </a:rPr>
              <a:t>CONTACT_MECHANISM</a:t>
            </a:r>
            <a:r>
              <a:rPr sz="1300">
                <a:solidFill>
                  <a:srgbClr val="000000"/>
                </a:solidFill>
                <a:latin typeface="Calibri"/>
              </a:rPr>
              <a:t> desacoplados con cardinalidad 1:N.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C000"/>
                </a:solidFill>
                <a:latin typeface="Calibri"/>
              </a:rPr>
              <a:t>• </a:t>
            </a:r>
            <a:r>
              <a:rPr b="1" sz="1300">
                <a:solidFill>
                  <a:srgbClr val="0B1B3D"/>
                </a:solidFill>
                <a:latin typeface="Calibri"/>
              </a:rPr>
              <a:t>Roles y Redes:</a:t>
            </a:r>
            <a:r>
              <a:rPr sz="1300">
                <a:solidFill>
                  <a:srgbClr val="000000"/>
                </a:solidFill>
                <a:latin typeface="Calibri"/>
              </a:rPr>
              <a:t> </a:t>
            </a:r>
            <a:r>
              <a:rPr sz="1300">
                <a:solidFill>
                  <a:srgbClr val="8A5A00"/>
                </a:solidFill>
                <a:latin typeface="Consolas"/>
              </a:rPr>
              <a:t>PARTY_ROLE</a:t>
            </a:r>
            <a:r>
              <a:rPr sz="1300">
                <a:solidFill>
                  <a:srgbClr val="000000"/>
                </a:solidFill>
                <a:latin typeface="Calibri"/>
              </a:rPr>
              <a:t> tipifica el rol; </a:t>
            </a:r>
            <a:r>
              <a:rPr sz="1300">
                <a:solidFill>
                  <a:srgbClr val="8A5A00"/>
                </a:solidFill>
                <a:latin typeface="Consolas"/>
              </a:rPr>
              <a:t>PARTY_RELATIONSHIP</a:t>
            </a:r>
            <a:r>
              <a:rPr sz="1300">
                <a:solidFill>
                  <a:srgbClr val="000000"/>
                </a:solidFill>
                <a:latin typeface="Calibri"/>
              </a:rPr>
              <a:t> mapea vínculos temporales dirigidos entre partes.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FFC000"/>
                </a:solidFill>
                <a:latin typeface="Calibri"/>
              </a:rPr>
              <a:t>• </a:t>
            </a:r>
            <a:r>
              <a:rPr b="1" sz="1300">
                <a:solidFill>
                  <a:srgbClr val="0B1B3D"/>
                </a:solidFill>
                <a:latin typeface="Calibri"/>
              </a:rPr>
              <a:t>Módulo Financiero:</a:t>
            </a:r>
            <a:r>
              <a:rPr sz="1300">
                <a:solidFill>
                  <a:srgbClr val="000000"/>
                </a:solidFill>
                <a:latin typeface="Calibri"/>
              </a:rPr>
              <a:t> </a:t>
            </a:r>
            <a:r>
              <a:rPr sz="1300">
                <a:solidFill>
                  <a:srgbClr val="8A5A00"/>
                </a:solidFill>
                <a:latin typeface="Consolas"/>
              </a:rPr>
              <a:t>PRESTATARIO_DETAIL</a:t>
            </a:r>
            <a:r>
              <a:rPr sz="1300">
                <a:solidFill>
                  <a:srgbClr val="000000"/>
                </a:solidFill>
                <a:latin typeface="Calibri"/>
              </a:rPr>
              <a:t> extiende el rol para asociar </a:t>
            </a:r>
            <a:r>
              <a:rPr sz="1300">
                <a:solidFill>
                  <a:srgbClr val="8A5A00"/>
                </a:solidFill>
                <a:latin typeface="Consolas"/>
              </a:rPr>
              <a:t>CREDITO</a:t>
            </a:r>
            <a:r>
              <a:rPr sz="1300">
                <a:solidFill>
                  <a:srgbClr val="000000"/>
                </a:solidFill>
                <a:latin typeface="Calibri"/>
              </a:rPr>
              <a:t> y transacciones de </a:t>
            </a:r>
            <a:r>
              <a:rPr sz="1300">
                <a:solidFill>
                  <a:srgbClr val="8A5A00"/>
                </a:solidFill>
                <a:latin typeface="Consolas"/>
              </a:rPr>
              <a:t>PAGO</a:t>
            </a:r>
            <a:r>
              <a:rPr sz="1300">
                <a:solidFill>
                  <a:srgbClr val="000000"/>
                </a:solidFill>
                <a:latin typeface="Calibr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355080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  <a:latin typeface="Calibri"/>
              </a:defRPr>
            </a:pPr>
            <a:r>
              <a:t>Curso: Base de Datos — Proyecto Final BGG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80015" y="641908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  <a:latin typeface="Calibri"/>
              </a:defRPr>
            </a:pPr>
            <a:r>
              <a:t>Diapositiva 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3D"/>
                </a:solidFill>
                <a:latin typeface="Calibri"/>
              </a:defRPr>
            </a:pPr>
            <a:r>
              <a:t>Modelo Físico y Decisiones de Normalización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86968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p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711695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430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C000"/>
                </a:solidFill>
                <a:latin typeface="Calibri"/>
              </a:rPr>
              <a:t>• </a:t>
            </a:r>
            <a:r>
              <a:rPr b="1" sz="1600">
                <a:solidFill>
                  <a:srgbClr val="0B1B3D"/>
                </a:solidFill>
                <a:latin typeface="Calibri"/>
              </a:rPr>
              <a:t>Comparativa de Normalización: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AS-IS (No normalizado / 1FN deficiente):</a:t>
            </a:r>
            <a:r>
              <a:rPr sz="1400">
                <a:solidFill>
                  <a:srgbClr val="000000"/>
                </a:solidFill>
                <a:latin typeface="Calibri"/>
              </a:rPr>
              <a:t> Tablas planas por rol con columnas </a:t>
            </a:r>
            <a:r>
              <a:rPr sz="1400">
                <a:solidFill>
                  <a:srgbClr val="8A5A00"/>
                </a:solidFill>
                <a:latin typeface="Consolas"/>
              </a:rPr>
              <a:t>NULL</a:t>
            </a:r>
            <a:r>
              <a:rPr sz="1400">
                <a:solidFill>
                  <a:srgbClr val="000000"/>
                </a:solidFill>
                <a:latin typeface="Calibri"/>
              </a:rPr>
              <a:t> masivas, atributos multivalor de teléfonos y documentos como PK frágiles.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TO-BE (Tercera Forma Normal / 3FN y BCNF):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1FN:</a:t>
            </a:r>
            <a:r>
              <a:rPr sz="1400">
                <a:solidFill>
                  <a:srgbClr val="000000"/>
                </a:solidFill>
                <a:latin typeface="Calibri"/>
              </a:rPr>
              <a:t> Claves primarias subrogadas (</a:t>
            </a:r>
            <a:r>
              <a:rPr sz="1400">
                <a:solidFill>
                  <a:srgbClr val="8A5A00"/>
                </a:solidFill>
                <a:latin typeface="Consolas"/>
              </a:rPr>
              <a:t>BIGINT</a:t>
            </a:r>
            <a:r>
              <a:rPr sz="1400">
                <a:solidFill>
                  <a:srgbClr val="000000"/>
                </a:solidFill>
                <a:latin typeface="Calibri"/>
              </a:rPr>
              <a:t>), atributos atómicos y teléfonos desacoplados en </a:t>
            </a:r>
            <a:r>
              <a:rPr sz="1400">
                <a:solidFill>
                  <a:srgbClr val="8A5A00"/>
                </a:solidFill>
                <a:latin typeface="Consolas"/>
              </a:rPr>
              <a:t>CONTACT_MECHANISM</a:t>
            </a:r>
            <a:r>
              <a:rPr sz="1400">
                <a:solidFill>
                  <a:srgbClr val="000000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2FN:</a:t>
            </a:r>
            <a:r>
              <a:rPr sz="1400">
                <a:solidFill>
                  <a:srgbClr val="000000"/>
                </a:solidFill>
                <a:latin typeface="Calibri"/>
              </a:rPr>
              <a:t> Dependencia funcional completa hacia la PK; separación de atributos biológicos (</a:t>
            </a:r>
            <a:r>
              <a:rPr sz="1400">
                <a:solidFill>
                  <a:srgbClr val="8A5A00"/>
                </a:solidFill>
                <a:latin typeface="Consolas"/>
              </a:rPr>
              <a:t>PERSON</a:t>
            </a:r>
            <a:r>
              <a:rPr sz="1400">
                <a:solidFill>
                  <a:srgbClr val="000000"/>
                </a:solidFill>
                <a:latin typeface="Calibri"/>
              </a:rPr>
              <a:t>) y jurídicos (</a:t>
            </a:r>
            <a:r>
              <a:rPr sz="1400">
                <a:solidFill>
                  <a:srgbClr val="8A5A00"/>
                </a:solidFill>
                <a:latin typeface="Consolas"/>
              </a:rPr>
              <a:t>ORGANIZATION</a:t>
            </a:r>
            <a:r>
              <a:rPr sz="1400">
                <a:solidFill>
                  <a:srgbClr val="000000"/>
                </a:solidFill>
                <a:latin typeface="Calibri"/>
              </a:rPr>
              <a:t>).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3FN / BCNF:</a:t>
            </a:r>
            <a:r>
              <a:rPr sz="1400">
                <a:solidFill>
                  <a:srgbClr val="000000"/>
                </a:solidFill>
                <a:latin typeface="Calibri"/>
              </a:rPr>
              <a:t> Eliminación total de dependencias transitivas; los roles y estados financieros no contaminan la identidad raíz.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55080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  <a:latin typeface="Calibri"/>
              </a:defRPr>
            </a:pPr>
            <a:r>
              <a:t>Curso: Base de Datos — Proyecto Final BGG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1908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  <a:latin typeface="Calibri"/>
              </a:defRPr>
            </a:pPr>
            <a:r>
              <a:t>Diapositiva 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3D"/>
                </a:solidFill>
                <a:latin typeface="Calibri"/>
              </a:defRPr>
            </a:pPr>
            <a:r>
              <a:t>Despliegue en SQL Server y Restricciones Técnicas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86968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p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711695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430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C000"/>
                </a:solidFill>
                <a:latin typeface="Calibri"/>
              </a:rPr>
              <a:t>• </a:t>
            </a:r>
            <a:r>
              <a:rPr b="1" sz="1600">
                <a:solidFill>
                  <a:srgbClr val="0B1B3D"/>
                </a:solidFill>
                <a:latin typeface="Calibri"/>
              </a:rPr>
              <a:t>Tipos de Datos y Precisión:</a:t>
            </a:r>
            <a:r>
              <a:rPr sz="1600">
                <a:solidFill>
                  <a:srgbClr val="000000"/>
                </a:solidFill>
                <a:latin typeface="Calibri"/>
              </a:rPr>
              <a:t> Claves </a:t>
            </a:r>
            <a:r>
              <a:rPr sz="1600">
                <a:solidFill>
                  <a:srgbClr val="8A5A00"/>
                </a:solidFill>
                <a:latin typeface="Consolas"/>
              </a:rPr>
              <a:t>BIGINT</a:t>
            </a:r>
            <a:r>
              <a:rPr sz="1600">
                <a:solidFill>
                  <a:srgbClr val="000000"/>
                </a:solidFill>
                <a:latin typeface="Calibri"/>
              </a:rPr>
              <a:t> para escalabilidad masiva, montos monetarios en </a:t>
            </a:r>
            <a:r>
              <a:rPr sz="1600">
                <a:solidFill>
                  <a:srgbClr val="8A5A00"/>
                </a:solidFill>
                <a:latin typeface="Consolas"/>
              </a:rPr>
              <a:t>DECIMAL(12,2)</a:t>
            </a:r>
            <a:r>
              <a:rPr sz="1600">
                <a:solidFill>
                  <a:srgbClr val="000000"/>
                </a:solidFill>
                <a:latin typeface="Calibri"/>
              </a:rPr>
              <a:t> y fechas normalizadas en </a:t>
            </a:r>
            <a:r>
              <a:rPr sz="1600">
                <a:solidFill>
                  <a:srgbClr val="8A5A00"/>
                </a:solidFill>
                <a:latin typeface="Consolas"/>
              </a:rPr>
              <a:t>DATE</a:t>
            </a:r>
            <a:r>
              <a:rPr sz="1600">
                <a:solidFill>
                  <a:srgbClr val="000000"/>
                </a:solidFill>
                <a:latin typeface="Calibri"/>
              </a:rPr>
              <a:t>/</a:t>
            </a:r>
            <a:r>
              <a:rPr sz="1600">
                <a:solidFill>
                  <a:srgbClr val="8A5A00"/>
                </a:solidFill>
                <a:latin typeface="Consolas"/>
              </a:rPr>
              <a:t>DATETIME</a:t>
            </a:r>
            <a:r>
              <a:rPr sz="1600">
                <a:solidFill>
                  <a:srgbClr val="000000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C000"/>
                </a:solidFill>
                <a:latin typeface="Calibri"/>
              </a:rPr>
              <a:t>• </a:t>
            </a:r>
            <a:r>
              <a:rPr b="1" sz="1600">
                <a:solidFill>
                  <a:srgbClr val="0B1B3D"/>
                </a:solidFill>
                <a:latin typeface="Calibri"/>
              </a:rPr>
              <a:t>Integridad Referencial y Restricciones (Constraints):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Integridad de Herencia (1:1):</a:t>
            </a:r>
            <a:r>
              <a:rPr sz="1400">
                <a:solidFill>
                  <a:srgbClr val="000000"/>
                </a:solidFill>
                <a:latin typeface="Calibri"/>
              </a:rPr>
              <a:t> </a:t>
            </a:r>
            <a:r>
              <a:rPr sz="1400">
                <a:solidFill>
                  <a:srgbClr val="8A5A00"/>
                </a:solidFill>
                <a:latin typeface="Consolas"/>
              </a:rPr>
              <a:t>PERSON.party_id</a:t>
            </a:r>
            <a:r>
              <a:rPr sz="1400">
                <a:solidFill>
                  <a:srgbClr val="000000"/>
                </a:solidFill>
                <a:latin typeface="Calibri"/>
              </a:rPr>
              <a:t> y </a:t>
            </a:r>
            <a:r>
              <a:rPr sz="1400">
                <a:solidFill>
                  <a:srgbClr val="8A5A00"/>
                </a:solidFill>
                <a:latin typeface="Consolas"/>
              </a:rPr>
              <a:t>ORGANIZATION.party_id</a:t>
            </a:r>
            <a:r>
              <a:rPr sz="1400">
                <a:solidFill>
                  <a:srgbClr val="000000"/>
                </a:solidFill>
                <a:latin typeface="Calibri"/>
              </a:rPr>
              <a:t> como PK y FK simultánea hacia </a:t>
            </a:r>
            <a:r>
              <a:rPr sz="1400">
                <a:solidFill>
                  <a:srgbClr val="8A5A00"/>
                </a:solidFill>
                <a:latin typeface="Consolas"/>
              </a:rPr>
              <a:t>PARTY.party_id</a:t>
            </a:r>
            <a:r>
              <a:rPr sz="1400">
                <a:solidFill>
                  <a:srgbClr val="000000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Unicidad Documentaria:</a:t>
            </a:r>
            <a:r>
              <a:rPr sz="1400">
                <a:solidFill>
                  <a:srgbClr val="000000"/>
                </a:solidFill>
                <a:latin typeface="Calibri"/>
              </a:rPr>
              <a:t> </a:t>
            </a:r>
            <a:r>
              <a:rPr sz="1400">
                <a:solidFill>
                  <a:srgbClr val="8A5A00"/>
                </a:solidFill>
                <a:latin typeface="Consolas"/>
              </a:rPr>
              <a:t>UNIQUE (id_type, id_value)</a:t>
            </a:r>
            <a:r>
              <a:rPr sz="1400">
                <a:solidFill>
                  <a:srgbClr val="000000"/>
                </a:solidFill>
                <a:latin typeface="Calibri"/>
              </a:rPr>
              <a:t> en </a:t>
            </a:r>
            <a:r>
              <a:rPr sz="1400">
                <a:solidFill>
                  <a:srgbClr val="8A5A00"/>
                </a:solidFill>
                <a:latin typeface="Consolas"/>
              </a:rPr>
              <a:t>PARTY_IDENTIFIER</a:t>
            </a:r>
            <a:r>
              <a:rPr sz="1400">
                <a:solidFill>
                  <a:srgbClr val="000000"/>
                </a:solidFill>
                <a:latin typeface="Calibri"/>
              </a:rPr>
              <a:t> para evitar duplicidad de DNI/RUC.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Validación Antirrecursiva en Grafo:</a:t>
            </a:r>
            <a:r>
              <a:rPr sz="1400">
                <a:solidFill>
                  <a:srgbClr val="000000"/>
                </a:solidFill>
                <a:latin typeface="Calibri"/>
              </a:rPr>
              <a:t> </a:t>
            </a:r>
            <a:r>
              <a:rPr sz="1400">
                <a:solidFill>
                  <a:srgbClr val="8A5A00"/>
                </a:solidFill>
                <a:latin typeface="Consolas"/>
              </a:rPr>
              <a:t>CHECK (from_party_id &lt;&gt; to_party_id)</a:t>
            </a:r>
            <a:r>
              <a:rPr sz="1400">
                <a:solidFill>
                  <a:srgbClr val="000000"/>
                </a:solidFill>
                <a:latin typeface="Calibri"/>
              </a:rPr>
              <a:t> en </a:t>
            </a:r>
            <a:r>
              <a:rPr sz="1400">
                <a:solidFill>
                  <a:srgbClr val="8A5A00"/>
                </a:solidFill>
                <a:latin typeface="Consolas"/>
              </a:rPr>
              <a:t>PARTY_RELATIONSHIP</a:t>
            </a:r>
            <a:r>
              <a:rPr sz="1400">
                <a:solidFill>
                  <a:srgbClr val="000000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Control de Dominio:</a:t>
            </a:r>
            <a:r>
              <a:rPr sz="1400">
                <a:solidFill>
                  <a:srgbClr val="000000"/>
                </a:solidFill>
                <a:latin typeface="Calibri"/>
              </a:rPr>
              <a:t> </a:t>
            </a:r>
            <a:r>
              <a:rPr sz="1400">
                <a:solidFill>
                  <a:srgbClr val="8A5A00"/>
                </a:solidFill>
                <a:latin typeface="Consolas"/>
              </a:rPr>
              <a:t>CHECK (party_type IN ('PERSON', 'ORGANIZATION'))</a:t>
            </a:r>
            <a:r>
              <a:rPr sz="1400">
                <a:solidFill>
                  <a:srgbClr val="000000"/>
                </a:solidFill>
                <a:latin typeface="Calibri"/>
              </a:rPr>
              <a:t> y estados en valores controlados (</a:t>
            </a:r>
            <a:r>
              <a:rPr sz="1400">
                <a:solidFill>
                  <a:srgbClr val="8A5A00"/>
                </a:solidFill>
                <a:latin typeface="Consolas"/>
              </a:rPr>
              <a:t>VIGENTE</a:t>
            </a:r>
            <a:r>
              <a:rPr sz="1400">
                <a:solidFill>
                  <a:srgbClr val="000000"/>
                </a:solidFill>
                <a:latin typeface="Calibri"/>
              </a:rPr>
              <a:t>, </a:t>
            </a:r>
            <a:r>
              <a:rPr sz="1400">
                <a:solidFill>
                  <a:srgbClr val="8A5A00"/>
                </a:solidFill>
                <a:latin typeface="Consolas"/>
              </a:rPr>
              <a:t>CANCELADO</a:t>
            </a:r>
            <a:r>
              <a:rPr sz="1400">
                <a:solidFill>
                  <a:srgbClr val="000000"/>
                </a:solidFill>
                <a:latin typeface="Calibri"/>
              </a:rPr>
              <a:t>, </a:t>
            </a:r>
            <a:r>
              <a:rPr sz="1400">
                <a:solidFill>
                  <a:srgbClr val="8A5A00"/>
                </a:solidFill>
                <a:latin typeface="Consolas"/>
              </a:rPr>
              <a:t>MOROSO</a:t>
            </a:r>
            <a:r>
              <a:rPr sz="1400">
                <a:solidFill>
                  <a:srgbClr val="000000"/>
                </a:solidFill>
                <a:latin typeface="Calibri"/>
              </a:rPr>
              <a:t>).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55080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  <a:latin typeface="Calibri"/>
              </a:defRPr>
            </a:pPr>
            <a:r>
              <a:t>Curso: Base de Datos — Proyecto Final BGG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1908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  <a:latin typeface="Calibri"/>
              </a:defRPr>
            </a:pPr>
            <a:r>
              <a:t>Diapositiva 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3D"/>
                </a:solidFill>
                <a:latin typeface="Calibri"/>
              </a:defRPr>
            </a:pPr>
            <a:r>
              <a:t>Políticas de Seguridad y Control de Acceso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86968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p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711695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430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C000"/>
                </a:solidFill>
                <a:latin typeface="Calibri"/>
              </a:rPr>
              <a:t>• </a:t>
            </a:r>
            <a:r>
              <a:rPr b="1" sz="1600">
                <a:solidFill>
                  <a:srgbClr val="0B1B3D"/>
                </a:solidFill>
                <a:latin typeface="Calibri"/>
              </a:rPr>
              <a:t>Desacoplamiento Conceptual:</a:t>
            </a:r>
            <a:r>
              <a:rPr sz="1600">
                <a:solidFill>
                  <a:srgbClr val="000000"/>
                </a:solidFill>
                <a:latin typeface="Calibri"/>
              </a:rPr>
              <a:t> Los roles de negocio (</a:t>
            </a:r>
            <a:r>
              <a:rPr sz="1600">
                <a:solidFill>
                  <a:srgbClr val="8A5A00"/>
                </a:solidFill>
                <a:latin typeface="Consolas"/>
              </a:rPr>
              <a:t>PARTY_ROLE</a:t>
            </a:r>
            <a:r>
              <a:rPr sz="1600">
                <a:solidFill>
                  <a:srgbClr val="000000"/>
                </a:solidFill>
                <a:latin typeface="Calibri"/>
              </a:rPr>
              <a:t>) son independientes de las cuentas de seguridad del SGBD.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C000"/>
                </a:solidFill>
                <a:latin typeface="Calibri"/>
              </a:rPr>
              <a:t>• </a:t>
            </a:r>
            <a:r>
              <a:rPr b="1" sz="1600">
                <a:solidFill>
                  <a:srgbClr val="0B1B3D"/>
                </a:solidFill>
                <a:latin typeface="Calibri"/>
              </a:rPr>
              <a:t>Roles y Privilegios en SQL Server (DCL):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`rol_cajero_cobrador`:</a:t>
            </a:r>
            <a:r>
              <a:rPr sz="1400">
                <a:solidFill>
                  <a:srgbClr val="000000"/>
                </a:solidFill>
                <a:latin typeface="Calibri"/>
              </a:rPr>
              <a:t> Permisos de </a:t>
            </a:r>
            <a:r>
              <a:rPr sz="1400">
                <a:solidFill>
                  <a:srgbClr val="8A5A00"/>
                </a:solidFill>
                <a:latin typeface="Consolas"/>
              </a:rPr>
              <a:t>INSERT</a:t>
            </a:r>
            <a:r>
              <a:rPr sz="1400">
                <a:solidFill>
                  <a:srgbClr val="000000"/>
                </a:solidFill>
                <a:latin typeface="Calibri"/>
              </a:rPr>
              <a:t> sobre </a:t>
            </a:r>
            <a:r>
              <a:rPr sz="1400">
                <a:solidFill>
                  <a:srgbClr val="8A5A00"/>
                </a:solidFill>
                <a:latin typeface="Consolas"/>
              </a:rPr>
              <a:t>PAGO</a:t>
            </a:r>
            <a:r>
              <a:rPr sz="1400">
                <a:solidFill>
                  <a:srgbClr val="000000"/>
                </a:solidFill>
                <a:latin typeface="Calibri"/>
              </a:rPr>
              <a:t> y </a:t>
            </a:r>
            <a:r>
              <a:rPr sz="1400">
                <a:solidFill>
                  <a:srgbClr val="8A5A00"/>
                </a:solidFill>
                <a:latin typeface="Consolas"/>
              </a:rPr>
              <a:t>SELECT</a:t>
            </a:r>
            <a:r>
              <a:rPr sz="1400">
                <a:solidFill>
                  <a:srgbClr val="000000"/>
                </a:solidFill>
                <a:latin typeface="Calibri"/>
              </a:rPr>
              <a:t> restringido sobre </a:t>
            </a:r>
            <a:r>
              <a:rPr sz="1400">
                <a:solidFill>
                  <a:srgbClr val="8A5A00"/>
                </a:solidFill>
                <a:latin typeface="Consolas"/>
              </a:rPr>
              <a:t>CREDITO</a:t>
            </a:r>
            <a:r>
              <a:rPr sz="1400">
                <a:solidFill>
                  <a:srgbClr val="000000"/>
                </a:solidFill>
                <a:latin typeface="Calibri"/>
              </a:rPr>
              <a:t> y contactos asignados.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`rol_analista_creditos`:</a:t>
            </a:r>
            <a:r>
              <a:rPr sz="1400">
                <a:solidFill>
                  <a:srgbClr val="000000"/>
                </a:solidFill>
                <a:latin typeface="Calibri"/>
              </a:rPr>
              <a:t> Permisos de </a:t>
            </a:r>
            <a:r>
              <a:rPr sz="1400">
                <a:solidFill>
                  <a:srgbClr val="8A5A00"/>
                </a:solidFill>
                <a:latin typeface="Consolas"/>
              </a:rPr>
              <a:t>INSERT</a:t>
            </a:r>
            <a:r>
              <a:rPr sz="1400">
                <a:solidFill>
                  <a:srgbClr val="000000"/>
                </a:solidFill>
                <a:latin typeface="Calibri"/>
              </a:rPr>
              <a:t>/</a:t>
            </a:r>
            <a:r>
              <a:rPr sz="1400">
                <a:solidFill>
                  <a:srgbClr val="8A5A00"/>
                </a:solidFill>
                <a:latin typeface="Consolas"/>
              </a:rPr>
              <a:t>UPDATE</a:t>
            </a:r>
            <a:r>
              <a:rPr sz="1400">
                <a:solidFill>
                  <a:srgbClr val="000000"/>
                </a:solidFill>
                <a:latin typeface="Calibri"/>
              </a:rPr>
              <a:t> sobre </a:t>
            </a:r>
            <a:r>
              <a:rPr sz="1400">
                <a:solidFill>
                  <a:srgbClr val="8A5A00"/>
                </a:solidFill>
                <a:latin typeface="Consolas"/>
              </a:rPr>
              <a:t>CREDITO</a:t>
            </a:r>
            <a:r>
              <a:rPr sz="1400">
                <a:solidFill>
                  <a:srgbClr val="000000"/>
                </a:solidFill>
                <a:latin typeface="Calibri"/>
              </a:rPr>
              <a:t>, </a:t>
            </a:r>
            <a:r>
              <a:rPr sz="1400">
                <a:solidFill>
                  <a:srgbClr val="8A5A00"/>
                </a:solidFill>
                <a:latin typeface="Consolas"/>
              </a:rPr>
              <a:t>PRESTATARIO_DETAIL</a:t>
            </a:r>
            <a:r>
              <a:rPr sz="1400">
                <a:solidFill>
                  <a:srgbClr val="000000"/>
                </a:solidFill>
                <a:latin typeface="Calibri"/>
              </a:rPr>
              <a:t> y </a:t>
            </a:r>
            <a:r>
              <a:rPr sz="1400">
                <a:solidFill>
                  <a:srgbClr val="8A5A00"/>
                </a:solidFill>
                <a:latin typeface="Consolas"/>
              </a:rPr>
              <a:t>PARTY_RELATIONSHIP</a:t>
            </a:r>
            <a:r>
              <a:rPr sz="1400">
                <a:solidFill>
                  <a:srgbClr val="000000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`rol_auditor_cumplimiento`:</a:t>
            </a:r>
            <a:r>
              <a:rPr sz="1400">
                <a:solidFill>
                  <a:srgbClr val="000000"/>
                </a:solidFill>
                <a:latin typeface="Calibri"/>
              </a:rPr>
              <a:t> Permisos de solo lectura (</a:t>
            </a:r>
            <a:r>
              <a:rPr sz="1400">
                <a:solidFill>
                  <a:srgbClr val="8A5A00"/>
                </a:solidFill>
                <a:latin typeface="Consolas"/>
              </a:rPr>
              <a:t>SELECT</a:t>
            </a:r>
            <a:r>
              <a:rPr sz="1400">
                <a:solidFill>
                  <a:srgbClr val="000000"/>
                </a:solidFill>
                <a:latin typeface="Calibri"/>
              </a:rPr>
              <a:t>) sobre historial temporal (</a:t>
            </a:r>
            <a:r>
              <a:rPr sz="1400">
                <a:solidFill>
                  <a:srgbClr val="8A5A00"/>
                </a:solidFill>
                <a:latin typeface="Consolas"/>
              </a:rPr>
              <a:t>start_date</a:t>
            </a:r>
            <a:r>
              <a:rPr sz="1400">
                <a:solidFill>
                  <a:srgbClr val="000000"/>
                </a:solidFill>
                <a:latin typeface="Calibri"/>
              </a:rPr>
              <a:t>, </a:t>
            </a:r>
            <a:r>
              <a:rPr sz="1400">
                <a:solidFill>
                  <a:srgbClr val="8A5A00"/>
                </a:solidFill>
                <a:latin typeface="Consolas"/>
              </a:rPr>
              <a:t>end_date</a:t>
            </a:r>
            <a:r>
              <a:rPr sz="1400">
                <a:solidFill>
                  <a:srgbClr val="000000"/>
                </a:solidFill>
                <a:latin typeface="Calibri"/>
              </a:rPr>
              <a:t>) y auditoría.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`rol_administrador_bd`:</a:t>
            </a:r>
            <a:r>
              <a:rPr sz="1400">
                <a:solidFill>
                  <a:srgbClr val="000000"/>
                </a:solidFill>
                <a:latin typeface="Calibri"/>
              </a:rPr>
              <a:t> Control DDL/DCL total sin acceso a credenciales de usuarios finales.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55080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  <a:latin typeface="Calibri"/>
              </a:defRPr>
            </a:pPr>
            <a:r>
              <a:t>Curso: Base de Datos — Proyecto Final BGG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1908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  <a:latin typeface="Calibri"/>
              </a:defRPr>
            </a:pPr>
            <a:r>
              <a:t>Diapositiva 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3D"/>
                </a:solidFill>
                <a:latin typeface="Calibri"/>
              </a:defRPr>
            </a:pPr>
            <a:r>
              <a:t>Plan de Backups y Recuperación ante Fallos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86968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p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711695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430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C000"/>
                </a:solidFill>
                <a:latin typeface="Calibri"/>
              </a:rPr>
              <a:t>• </a:t>
            </a:r>
            <a:r>
              <a:rPr b="1" sz="1600">
                <a:solidFill>
                  <a:srgbClr val="0B1B3D"/>
                </a:solidFill>
                <a:latin typeface="Calibri"/>
              </a:rPr>
              <a:t>Estrategia de Respaldos (Regla 3-2-1):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Backup Completo (Full):</a:t>
            </a:r>
            <a:r>
              <a:rPr sz="1400">
                <a:solidFill>
                  <a:srgbClr val="000000"/>
                </a:solidFill>
                <a:latin typeface="Calibri"/>
              </a:rPr>
              <a:t> Ejecución semanal programada (domingos a las 00:00 hrs) para captura integral de la base de datos.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Backup Diferencial:</a:t>
            </a:r>
            <a:r>
              <a:rPr sz="1400">
                <a:solidFill>
                  <a:srgbClr val="000000"/>
                </a:solidFill>
                <a:latin typeface="Calibri"/>
              </a:rPr>
              <a:t> Ejecución diaria de lunes a sábado (23:00 hrs) capturando solo cambios desde el último Full.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Backup de Log de Transacciones:</a:t>
            </a:r>
            <a:r>
              <a:rPr sz="1400">
                <a:solidFill>
                  <a:srgbClr val="000000"/>
                </a:solidFill>
                <a:latin typeface="Calibri"/>
              </a:rPr>
              <a:t> Ejecución periódica cada 1 hora en horario operativo (07:00 a 20:00 hrs) bajo Recovery Model </a:t>
            </a:r>
            <a:r>
              <a:rPr sz="1400">
                <a:solidFill>
                  <a:srgbClr val="8A5A00"/>
                </a:solidFill>
                <a:latin typeface="Consolas"/>
              </a:rPr>
              <a:t>FULL</a:t>
            </a:r>
            <a:r>
              <a:rPr sz="1400">
                <a:solidFill>
                  <a:srgbClr val="000000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C000"/>
                </a:solidFill>
                <a:latin typeface="Calibri"/>
              </a:rPr>
              <a:t>• </a:t>
            </a:r>
            <a:r>
              <a:rPr b="1" sz="1600">
                <a:solidFill>
                  <a:srgbClr val="0B1B3D"/>
                </a:solidFill>
                <a:latin typeface="Calibri"/>
              </a:rPr>
              <a:t>Métricas de Continuidad: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RPO (Punto Objetivo de Recuperación):</a:t>
            </a:r>
            <a:r>
              <a:rPr sz="1400">
                <a:solidFill>
                  <a:srgbClr val="000000"/>
                </a:solidFill>
                <a:latin typeface="Calibri"/>
              </a:rPr>
              <a:t> Menor a 1 hora de pérdida potencial de datos ante desastre.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RTO (Tiempo Objetivo de Recuperación):</a:t>
            </a:r>
            <a:r>
              <a:rPr sz="1400">
                <a:solidFill>
                  <a:srgbClr val="000000"/>
                </a:solidFill>
                <a:latin typeface="Calibri"/>
              </a:rPr>
              <a:t> Restauración completa operativa en menos de 30 minutos mediante validación automática (</a:t>
            </a:r>
            <a:r>
              <a:rPr sz="1400">
                <a:solidFill>
                  <a:srgbClr val="8A5A00"/>
                </a:solidFill>
                <a:latin typeface="Consolas"/>
              </a:rPr>
              <a:t>RESTORE VERIFYONLY</a:t>
            </a:r>
            <a:r>
              <a:rPr sz="1400">
                <a:solidFill>
                  <a:srgbClr val="000000"/>
                </a:solidFill>
                <a:latin typeface="Calibri"/>
              </a:rPr>
              <a:t>).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55080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  <a:latin typeface="Calibri"/>
              </a:defRPr>
            </a:pPr>
            <a:r>
              <a:t>Curso: Base de Datos — Proyecto Final BGG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1908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  <a:latin typeface="Calibri"/>
              </a:defRPr>
            </a:pPr>
            <a:r>
              <a:t>Diapositiva 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3D"/>
                </a:solidFill>
                <a:latin typeface="Calibri"/>
              </a:defRPr>
            </a:pPr>
            <a:r>
              <a:t>Demostración de Resultados: Consultas Clave en Vivo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86968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p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711695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430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C000"/>
                </a:solidFill>
                <a:latin typeface="Calibri"/>
              </a:rPr>
              <a:t>• </a:t>
            </a:r>
            <a:r>
              <a:rPr b="1" sz="1600">
                <a:solidFill>
                  <a:srgbClr val="0B1B3D"/>
                </a:solidFill>
                <a:latin typeface="Calibri"/>
              </a:rPr>
              <a:t>Evidencia 1: Identidad Única Multi-Rol: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sz="1400">
                <a:solidFill>
                  <a:srgbClr val="000000"/>
                </a:solidFill>
                <a:latin typeface="Calibri"/>
              </a:rPr>
              <a:t>Consulta </a:t>
            </a:r>
            <a:r>
              <a:rPr sz="1400">
                <a:solidFill>
                  <a:srgbClr val="8A5A00"/>
                </a:solidFill>
                <a:latin typeface="Consolas"/>
              </a:rPr>
              <a:t>JOIN</a:t>
            </a:r>
            <a:r>
              <a:rPr sz="1400">
                <a:solidFill>
                  <a:srgbClr val="000000"/>
                </a:solidFill>
                <a:latin typeface="Calibri"/>
              </a:rPr>
              <a:t> que demuestra cómo un mismo </a:t>
            </a:r>
            <a:r>
              <a:rPr sz="1400">
                <a:solidFill>
                  <a:srgbClr val="8A5A00"/>
                </a:solidFill>
                <a:latin typeface="Consolas"/>
              </a:rPr>
              <a:t>party_id</a:t>
            </a:r>
            <a:r>
              <a:rPr sz="1400">
                <a:solidFill>
                  <a:srgbClr val="000000"/>
                </a:solidFill>
                <a:latin typeface="Calibri"/>
              </a:rPr>
              <a:t> opera simultáneamente como Prestatario y Aval con un único registro de identidad.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C000"/>
                </a:solidFill>
                <a:latin typeface="Calibri"/>
              </a:rPr>
              <a:t>• </a:t>
            </a:r>
            <a:r>
              <a:rPr b="1" sz="1600">
                <a:solidFill>
                  <a:srgbClr val="0B1B3D"/>
                </a:solidFill>
                <a:latin typeface="Calibri"/>
              </a:rPr>
              <a:t>Evidencia 2: Detección de Riesgo en Red de Avales: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sz="1400">
                <a:solidFill>
                  <a:srgbClr val="000000"/>
                </a:solidFill>
                <a:latin typeface="Calibri"/>
              </a:rPr>
              <a:t>Consulta con auto-unión (</a:t>
            </a:r>
            <a:r>
              <a:rPr sz="1400">
                <a:solidFill>
                  <a:srgbClr val="8A5A00"/>
                </a:solidFill>
                <a:latin typeface="Consolas"/>
              </a:rPr>
              <a:t>INNER JOIN</a:t>
            </a:r>
            <a:r>
              <a:rPr sz="1400">
                <a:solidFill>
                  <a:srgbClr val="000000"/>
                </a:solidFill>
                <a:latin typeface="Calibri"/>
              </a:rPr>
              <a:t> sobre </a:t>
            </a:r>
            <a:r>
              <a:rPr sz="1400">
                <a:solidFill>
                  <a:srgbClr val="8A5A00"/>
                </a:solidFill>
                <a:latin typeface="Consolas"/>
              </a:rPr>
              <a:t>PARTY_RELATIONSHIP</a:t>
            </a:r>
            <a:r>
              <a:rPr sz="1400">
                <a:solidFill>
                  <a:srgbClr val="000000"/>
                </a:solidFill>
                <a:latin typeface="Calibri"/>
              </a:rPr>
              <a:t>) que revela avales sobrecomprometidos en múltiples créditos vigentes.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C000"/>
                </a:solidFill>
                <a:latin typeface="Calibri"/>
              </a:rPr>
              <a:t>• </a:t>
            </a:r>
            <a:r>
              <a:rPr b="1" sz="1600">
                <a:solidFill>
                  <a:srgbClr val="0B1B3D"/>
                </a:solidFill>
                <a:latin typeface="Calibri"/>
              </a:rPr>
              <a:t>Evidencia 3: Liquidación Diaria de Cobranza en Ruta: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sz="1400">
                <a:solidFill>
                  <a:srgbClr val="000000"/>
                </a:solidFill>
                <a:latin typeface="Calibri"/>
              </a:rPr>
              <a:t>Consulta agrupada (</a:t>
            </a:r>
            <a:r>
              <a:rPr sz="1400">
                <a:solidFill>
                  <a:srgbClr val="8A5A00"/>
                </a:solidFill>
                <a:latin typeface="Consolas"/>
              </a:rPr>
              <a:t>SUM</a:t>
            </a:r>
            <a:r>
              <a:rPr sz="1400">
                <a:solidFill>
                  <a:srgbClr val="000000"/>
                </a:solidFill>
                <a:latin typeface="Calibri"/>
              </a:rPr>
              <a:t>, </a:t>
            </a:r>
            <a:r>
              <a:rPr sz="1400">
                <a:solidFill>
                  <a:srgbClr val="8A5A00"/>
                </a:solidFill>
                <a:latin typeface="Consolas"/>
              </a:rPr>
              <a:t>COUNT</a:t>
            </a:r>
            <a:r>
              <a:rPr sz="1400">
                <a:solidFill>
                  <a:srgbClr val="000000"/>
                </a:solidFill>
                <a:latin typeface="Calibri"/>
              </a:rPr>
              <a:t>) por cobrador (</a:t>
            </a:r>
            <a:r>
              <a:rPr sz="1400">
                <a:solidFill>
                  <a:srgbClr val="8A5A00"/>
                </a:solidFill>
                <a:latin typeface="Consolas"/>
              </a:rPr>
              <a:t>party_role_id</a:t>
            </a:r>
            <a:r>
              <a:rPr sz="1400">
                <a:solidFill>
                  <a:srgbClr val="000000"/>
                </a:solidFill>
                <a:latin typeface="Calibri"/>
              </a:rPr>
              <a:t>) en fecha actual cruzando </a:t>
            </a:r>
            <a:r>
              <a:rPr sz="1400">
                <a:solidFill>
                  <a:srgbClr val="8A5A00"/>
                </a:solidFill>
                <a:latin typeface="Consolas"/>
              </a:rPr>
              <a:t>PAGO</a:t>
            </a:r>
            <a:r>
              <a:rPr sz="1400">
                <a:solidFill>
                  <a:srgbClr val="000000"/>
                </a:solidFill>
                <a:latin typeface="Calibri"/>
              </a:rPr>
              <a:t>, </a:t>
            </a:r>
            <a:r>
              <a:rPr sz="1400">
                <a:solidFill>
                  <a:srgbClr val="8A5A00"/>
                </a:solidFill>
                <a:latin typeface="Consolas"/>
              </a:rPr>
              <a:t>CREDITO</a:t>
            </a:r>
            <a:r>
              <a:rPr sz="1400">
                <a:solidFill>
                  <a:srgbClr val="000000"/>
                </a:solidFill>
                <a:latin typeface="Calibri"/>
              </a:rPr>
              <a:t> y </a:t>
            </a:r>
            <a:r>
              <a:rPr sz="1400">
                <a:solidFill>
                  <a:srgbClr val="8A5A00"/>
                </a:solidFill>
                <a:latin typeface="Consolas"/>
              </a:rPr>
              <a:t>PERSON</a:t>
            </a:r>
            <a:r>
              <a:rPr sz="1400">
                <a:solidFill>
                  <a:srgbClr val="000000"/>
                </a:solidFill>
                <a:latin typeface="Calibri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55080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  <a:latin typeface="Calibri"/>
              </a:defRPr>
            </a:pPr>
            <a:r>
              <a:t>Curso: Base de Datos — Proyecto Final BGG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1908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  <a:latin typeface="Calibri"/>
              </a:defRPr>
            </a:pPr>
            <a:r>
              <a:t>Diapositiva 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869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B1B3D"/>
                </a:solidFill>
                <a:latin typeface="Calibri"/>
              </a:defRPr>
            </a:pPr>
            <a:r>
              <a:t>Conclusiones y Recomendaciones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86968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p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095" y="228600"/>
            <a:ext cx="711695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430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FC000"/>
                </a:solidFill>
                <a:latin typeface="Calibri"/>
              </a:rPr>
              <a:t>• </a:t>
            </a:r>
            <a:r>
              <a:rPr b="1" sz="1600">
                <a:solidFill>
                  <a:srgbClr val="0B1B3D"/>
                </a:solidFill>
                <a:latin typeface="Calibri"/>
              </a:rPr>
              <a:t>Conclusiones: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Eliminación de Redundancia:</a:t>
            </a:r>
            <a:r>
              <a:rPr sz="1400">
                <a:solidFill>
                  <a:srgbClr val="000000"/>
                </a:solidFill>
                <a:latin typeface="Calibri"/>
              </a:rPr>
              <a:t> El patrón PARTY erradicó duplicados de identidad y anomalías de actualización presentes en el modelo AS-IS.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Integridad ACID:</a:t>
            </a:r>
            <a:r>
              <a:rPr sz="1400">
                <a:solidFill>
                  <a:srgbClr val="000000"/>
                </a:solidFill>
                <a:latin typeface="Calibri"/>
              </a:rPr>
              <a:t> El motor SQL Server garantiza consistencia transaccional estricta en cobros diarios y desembolsos.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b="1" sz="1400">
                <a:solidFill>
                  <a:srgbClr val="0B1B3D"/>
                </a:solidFill>
                <a:latin typeface="Calibri"/>
              </a:rPr>
              <a:t>Flexibilidad de Dominio:</a:t>
            </a:r>
            <a:r>
              <a:rPr sz="1400">
                <a:solidFill>
                  <a:srgbClr val="000000"/>
                </a:solidFill>
                <a:latin typeface="Calibri"/>
              </a:rPr>
              <a:t> </a:t>
            </a:r>
            <a:r>
              <a:rPr sz="1400">
                <a:solidFill>
                  <a:srgbClr val="8A5A00"/>
                </a:solidFill>
                <a:latin typeface="Consolas"/>
              </a:rPr>
              <a:t>PARTY_RELATIONSHIP</a:t>
            </a:r>
            <a:r>
              <a:rPr sz="1400">
                <a:solidFill>
                  <a:srgbClr val="000000"/>
                </a:solidFill>
                <a:latin typeface="Calibri"/>
              </a:rPr>
              <a:t> modela redes complejas de avales y cobradores sin alterar el esquema físico.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FC000"/>
                </a:solidFill>
                <a:latin typeface="Calibri"/>
              </a:rPr>
              <a:t>• </a:t>
            </a:r>
            <a:r>
              <a:rPr b="1" sz="1600">
                <a:solidFill>
                  <a:srgbClr val="0B1B3D"/>
                </a:solidFill>
                <a:latin typeface="Calibri"/>
              </a:rPr>
              <a:t>Recomendaciones: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sz="1400">
                <a:solidFill>
                  <a:srgbClr val="000000"/>
                </a:solidFill>
                <a:latin typeface="Calibri"/>
              </a:rPr>
              <a:t>Implementar vistas indexadas (</a:t>
            </a:r>
            <a:r>
              <a:rPr sz="1400">
                <a:solidFill>
                  <a:srgbClr val="8A5A00"/>
                </a:solidFill>
                <a:latin typeface="Consolas"/>
              </a:rPr>
              <a:t>Indexed Views</a:t>
            </a:r>
            <a:r>
              <a:rPr sz="1400">
                <a:solidFill>
                  <a:srgbClr val="000000"/>
                </a:solidFill>
                <a:latin typeface="Calibri"/>
              </a:rPr>
              <a:t>) para acelerar la liquidación diaria de cobradores en ruta.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sz="1400">
                <a:solidFill>
                  <a:srgbClr val="000000"/>
                </a:solidFill>
                <a:latin typeface="Calibri"/>
              </a:rPr>
              <a:t>Añadir triggers para impedir solapamiento de rangos de fechas (</a:t>
            </a:r>
            <a:r>
              <a:rPr sz="1400">
                <a:solidFill>
                  <a:srgbClr val="8A5A00"/>
                </a:solidFill>
                <a:latin typeface="Consolas"/>
              </a:rPr>
              <a:t>start_date</a:t>
            </a:r>
            <a:r>
              <a:rPr sz="1400">
                <a:solidFill>
                  <a:srgbClr val="000000"/>
                </a:solidFill>
                <a:latin typeface="Calibri"/>
              </a:rPr>
              <a:t>, </a:t>
            </a:r>
            <a:r>
              <a:rPr sz="1400">
                <a:solidFill>
                  <a:srgbClr val="8A5A00"/>
                </a:solidFill>
                <a:latin typeface="Consolas"/>
              </a:rPr>
              <a:t>end_date</a:t>
            </a:r>
            <a:r>
              <a:rPr sz="1400">
                <a:solidFill>
                  <a:srgbClr val="000000"/>
                </a:solidFill>
                <a:latin typeface="Calibri"/>
              </a:rPr>
              <a:t>) en roles y asignaciones.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66666"/>
                </a:solidFill>
                <a:latin typeface="Calibri"/>
              </a:rPr>
              <a:t>– </a:t>
            </a:r>
            <a:r>
              <a:rPr sz="1400">
                <a:solidFill>
                  <a:srgbClr val="000000"/>
                </a:solidFill>
                <a:latin typeface="Calibri"/>
              </a:rPr>
              <a:t>Automatizar la copia de respaldos a almacenamiento fuera de sitio para cumplimiento de continuidad del negocio.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55080"/>
            <a:ext cx="11277295" cy="2794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19088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66666"/>
                </a:solidFill>
                <a:latin typeface="Calibri"/>
              </a:defRPr>
            </a:pPr>
            <a:r>
              <a:t>Curso: Base de Datos — Proyecto Final BGG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015" y="6419088"/>
            <a:ext cx="1554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  <a:latin typeface="Calibri"/>
              </a:defRPr>
            </a:pPr>
            <a:r>
              <a:t>Diapositiva 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
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p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802" y="502920"/>
            <a:ext cx="1488089" cy="1051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169164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0000"/>
                </a:solidFill>
                <a:latin typeface="Calibri"/>
              </a:defRPr>
            </a:pPr>
            <a:r>
              <a:t>UNIVERSIDAD PRIVADA DEL NORTE — FACULTAD DE INGENIERÍA</a:t>
            </a:r>
          </a:p>
          <a:p>
            <a:pPr algn="ctr">
              <a:defRPr sz="1100">
                <a:solidFill>
                  <a:srgbClr val="787878"/>
                </a:solidFill>
                <a:latin typeface="Calibri"/>
              </a:defRPr>
            </a:pPr>
            <a:r>
              <a:t>Carrera de Ingeniería de Sistemas Computacionales | Curso: Base de Datos (2026-1)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2331720"/>
            <a:ext cx="8168335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gg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514600"/>
            <a:ext cx="1371600" cy="1371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51760" y="2468880"/>
            <a:ext cx="8412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  <a:latin typeface="Calibri"/>
              </a:defRPr>
            </a:pPr>
            <a:r>
              <a:t>Diseño e Implementación de una Base de Datos Relacional para la Gestión de Microcréditos y Cobranza en Ruta (Caso BGG) aplicando el Patrón PARTY en SQL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297680"/>
            <a:ext cx="4754880" cy="1920240"/>
          </a:xfrm>
          <a:prstGeom prst="roundRect">
            <a:avLst/>
          </a:prstGeom>
          <a:solidFill>
            <a:srgbClr val="FFF3CC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200" b="1">
                <a:solidFill>
                  <a:srgbClr val="000000"/>
                </a:solidFill>
                <a:latin typeface="Calibri"/>
              </a:defRPr>
            </a:pPr>
            <a:r>
              <a:t>Información del Curso y Proyecto</a:t>
            </a:r>
          </a:p>
          <a:p>
            <a:r>
              <a:rPr b="1" sz="1100">
                <a:solidFill>
                  <a:srgbClr val="000000"/>
                </a:solidFill>
              </a:rPr>
              <a:t>Docente: </a:t>
            </a:r>
            <a:r>
              <a:rPr b="0" sz="1100">
                <a:solidFill>
                  <a:srgbClr val="282828"/>
                </a:solidFill>
              </a:rPr>
              <a:t>Juan Emilio Asto Vara</a:t>
            </a:r>
          </a:p>
          <a:p>
            <a:r>
              <a:rPr b="1" sz="1100">
                <a:solidFill>
                  <a:srgbClr val="000000"/>
                </a:solidFill>
              </a:rPr>
              <a:t>Sede / Periodo: </a:t>
            </a:r>
            <a:r>
              <a:rPr b="0" sz="1100">
                <a:solidFill>
                  <a:srgbClr val="282828"/>
                </a:solidFill>
              </a:rPr>
              <a:t>Cajamarca – Perú, 2026-1</a:t>
            </a:r>
          </a:p>
          <a:p>
            <a:r>
              <a:rPr b="1" sz="1100">
                <a:solidFill>
                  <a:srgbClr val="000000"/>
                </a:solidFill>
              </a:rPr>
              <a:t>SGBD: </a:t>
            </a:r>
            <a:r>
              <a:rPr b="0" sz="1100">
                <a:solidFill>
                  <a:srgbClr val="282828"/>
                </a:solidFill>
              </a:rPr>
              <a:t>Microsoft SQL Server</a:t>
            </a:r>
          </a:p>
          <a:p>
            <a:r>
              <a:rPr b="1" sz="1100">
                <a:solidFill>
                  <a:srgbClr val="000000"/>
                </a:solidFill>
              </a:rPr>
              <a:t>Metodología: </a:t>
            </a:r>
            <a:r>
              <a:rPr b="0" sz="1100">
                <a:solidFill>
                  <a:srgbClr val="282828"/>
                </a:solidFill>
              </a:rPr>
              <a:t>AS-IS vs. TO-BE (Patrón PARTY)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97680"/>
            <a:ext cx="4876495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defRPr sz="1200" b="1">
                <a:solidFill>
                  <a:srgbClr val="000000"/>
                </a:solidFill>
                <a:latin typeface="Calibri"/>
              </a:defRPr>
            </a:pPr>
            <a:r>
              <a:t>Integrantes (% de Participación)</a:t>
            </a:r>
          </a:p>
          <a:p>
            <a:r>
              <a:rPr sz="1100">
                <a:solidFill>
                  <a:srgbClr val="282828"/>
                </a:solidFill>
              </a:rPr>
              <a:t>•  Aquino Rivera, Oswaldo Jader (25%)</a:t>
            </a:r>
          </a:p>
          <a:p>
            <a:r>
              <a:rPr sz="1100">
                <a:solidFill>
                  <a:srgbClr val="282828"/>
                </a:solidFill>
              </a:rPr>
              <a:t>•  Espinoza Morales, Jose Angel (25%)</a:t>
            </a:r>
          </a:p>
          <a:p>
            <a:r>
              <a:rPr sz="1100">
                <a:solidFill>
                  <a:srgbClr val="282828"/>
                </a:solidFill>
              </a:rPr>
              <a:t>•  León Ccahuana, Jeffre Carlos (25%)</a:t>
            </a:r>
          </a:p>
          <a:p>
            <a:r>
              <a:rPr sz="1100">
                <a:solidFill>
                  <a:srgbClr val="282828"/>
                </a:solidFill>
              </a:rPr>
              <a:t>•  Ramos Guerra, Jaime Eloy (25%)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Calibri"/>
              </a:defRPr>
            </a:pPr>
            <a:r>
              <a:t>Presentación del Caso Real BGG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97049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Calibri"/>
              </a:defRPr>
            </a:pPr>
            <a:r>
              <a:t>Curso: Base de Datos — Proyecto Final BGG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Calibri"/>
              </a:defRPr>
            </a:pPr>
            <a:r>
              <a:t>Diapositiva 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2865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Modelo de Negocio:</a:t>
            </a:r>
            <a:r>
              <a:rPr sz="1300" b="0">
                <a:solidFill>
                  <a:srgbClr val="000000"/>
                </a:solidFill>
                <a:latin typeface="Calibri"/>
              </a:rPr>
              <a:t> Entidad de microcréditos con esquema de préstamos rápidos y cobranza diaria/semanal en ruta ("gota a gota").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Contexto Operativo:</a:t>
            </a:r>
            <a:r>
              <a:rPr sz="1300" b="0">
                <a:solidFill>
                  <a:srgbClr val="000000"/>
                </a:solidFill>
                <a:latin typeface="Calibri"/>
              </a:rPr>
              <a:t> Asignación dinámica de cobradores por zonas comerciales, múltiples préstamos en paralelo y requerimiento de avales/garantes solidarios.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Relevancia y Fuentes Verificables del Fenómeno: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200" b="1">
                <a:solidFill>
                  <a:srgbClr val="000000"/>
                </a:solidFill>
                <a:latin typeface="Calibri"/>
              </a:rPr>
              <a:t>Instituto Peruano de Economía (IPE):</a:t>
            </a:r>
            <a:r>
              <a:rPr sz="1200" b="0">
                <a:solidFill>
                  <a:srgbClr val="282828"/>
                </a:solidFill>
                <a:latin typeface="Calibri"/>
              </a:rPr>
              <a:t> El crédito informal "gota a gota" creció del 22% (2022) al 35% (2024), alcanzando a ~211,000 familias con tasas anualizadas superiores al 1,400%.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200" b="1">
                <a:solidFill>
                  <a:srgbClr val="000000"/>
                </a:solidFill>
                <a:latin typeface="Calibri"/>
              </a:rPr>
              <a:t>Superintendencia de Banca, Seguros y AFP (SBS):</a:t>
            </a:r>
            <a:r>
              <a:rPr sz="1200" b="0">
                <a:solidFill>
                  <a:srgbClr val="282828"/>
                </a:solidFill>
                <a:latin typeface="Calibri"/>
              </a:rPr>
              <a:t> Fiscalización activa sobre más de 18 aplicaciones y esquemas informales de préstamo.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200" b="1">
                <a:solidFill>
                  <a:srgbClr val="000000"/>
                </a:solidFill>
                <a:latin typeface="Calibri"/>
              </a:rPr>
              <a:t>Código Penal Peruano (2023):</a:t>
            </a:r>
            <a:r>
              <a:rPr sz="1200" b="0">
                <a:solidFill>
                  <a:srgbClr val="282828"/>
                </a:solidFill>
                <a:latin typeface="Calibri"/>
              </a:rPr>
              <a:t> Tipificación explícita de delitos vinculados a usura extorsiva y cobro coactivo.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Calibri"/>
              </a:defRPr>
            </a:pPr>
            <a:r>
              <a:t>Problemática Identificada (Diagnóstico AS-IS)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97049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Calibri"/>
              </a:defRPr>
            </a:pPr>
            <a:r>
              <a:t>Curso: Base de Datos — Proyecto Final BGG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Calibri"/>
              </a:defRPr>
            </a:pPr>
            <a:r>
              <a:t>Diapositiva 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2865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Gestión Fragmentada por Rol:</a:t>
            </a:r>
            <a:r>
              <a:rPr sz="1300" b="0">
                <a:solidFill>
                  <a:srgbClr val="000000"/>
                </a:solidFill>
                <a:latin typeface="Calibri"/>
              </a:rPr>
              <a:t> Tablas independientes y aisladas para </a:t>
            </a:r>
            <a:r>
              <a:rPr sz="1300" b="1">
                <a:solidFill>
                  <a:srgbClr val="3C3C3C"/>
                </a:solidFill>
                <a:latin typeface="Calibri"/>
              </a:rPr>
              <a:t>Clientes</a:t>
            </a:r>
            <a:r>
              <a:rPr sz="1300" b="0">
                <a:solidFill>
                  <a:srgbClr val="000000"/>
                </a:solidFill>
                <a:latin typeface="Calibri"/>
              </a:rPr>
              <a:t>, </a:t>
            </a:r>
            <a:r>
              <a:rPr sz="1300" b="1">
                <a:solidFill>
                  <a:srgbClr val="3C3C3C"/>
                </a:solidFill>
                <a:latin typeface="Calibri"/>
              </a:rPr>
              <a:t>Avales</a:t>
            </a:r>
            <a:r>
              <a:rPr sz="1300" b="0">
                <a:solidFill>
                  <a:srgbClr val="000000"/>
                </a:solidFill>
                <a:latin typeface="Calibri"/>
              </a:rPr>
              <a:t> y </a:t>
            </a:r>
            <a:r>
              <a:rPr sz="1300" b="1">
                <a:solidFill>
                  <a:srgbClr val="3C3C3C"/>
                </a:solidFill>
                <a:latin typeface="Calibri"/>
              </a:rPr>
              <a:t>Cobradores</a:t>
            </a:r>
            <a:r>
              <a:rPr sz="130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Duplicación Crítica de Identidades:</a:t>
            </a:r>
            <a:r>
              <a:rPr sz="1300" b="0">
                <a:solidFill>
                  <a:srgbClr val="000000"/>
                </a:solidFill>
                <a:latin typeface="Calibri"/>
              </a:rPr>
              <a:t> Reingreso redundante de datos personales cuando un cliente actúa simultáneamente como aval de otro préstamo o pasa a ser cobrador.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Inconsistencia de Datos:</a:t>
            </a:r>
            <a:r>
              <a:rPr sz="1300" b="0">
                <a:solidFill>
                  <a:srgbClr val="000000"/>
                </a:solidFill>
                <a:latin typeface="Calibri"/>
              </a:rPr>
              <a:t> Teléfonos, direcciones y documentos desactualizados en una tabla mientras permanecen obsoletos en otra.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Amnesia Histórica y Falta de Trazabilidad: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Pérdida del registro de asignaciones históricas de cobradores por cliente y ruta.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Imposibilidad de auditar cuántos créditos activos tiene garantizados un aval en una fecha específica.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Riesgo Crediticio Oculto:</a:t>
            </a:r>
            <a:r>
              <a:rPr sz="1300" b="0">
                <a:solidFill>
                  <a:srgbClr val="000000"/>
                </a:solidFill>
                <a:latin typeface="Calibri"/>
              </a:rPr>
              <a:t> Sobreendeudamiento no detectado por falta de consolidación integral del perfil de cada persona.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Calibri"/>
              </a:defRPr>
            </a:pPr>
            <a:r>
              <a:t>Análisis del Entorno (Diagrama SEPTE)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97049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Calibri"/>
              </a:defRPr>
            </a:pPr>
            <a:r>
              <a:t>Curso: Base de Datos — Proyecto Final BGG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Calibri"/>
              </a:defRPr>
            </a:pPr>
            <a:r>
              <a:t>Diapositiva 4 / 15</a:t>
            </a:r>
          </a:p>
        </p:txBody>
      </p:sp>
      <p:pic>
        <p:nvPicPr>
          <p:cNvPr id="8" name="Picture 7" descr="slide4_sep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51341"/>
            <a:ext cx="10728655" cy="10125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Calibri"/>
              </a:defRPr>
            </a:pPr>
            <a:r>
              <a:t>Objetivos del Proyecto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97049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Calibri"/>
              </a:defRPr>
            </a:pPr>
            <a:r>
              <a:t>Curso: Base de Datos — Proyecto Final BGG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Calibri"/>
              </a:defRPr>
            </a:pPr>
            <a:r>
              <a:t>Diapositiva 5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2865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Objetivo General: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Diseñar e implementar una base de datos relacional para BGG en SQL Server bajo el patrón de modelado PARTY, centralizando la identidad única de personas y organizaciones para eliminar la redundancia y garantizar la trazabilidad histórica de créditos, avales y cobranzas frente al estado AS-IS.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Objetivos Específicos: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200" b="1">
                <a:solidFill>
                  <a:srgbClr val="000000"/>
                </a:solidFill>
                <a:latin typeface="Calibri"/>
              </a:rPr>
              <a:t>OE1:</a:t>
            </a:r>
            <a:r>
              <a:rPr sz="1200" b="0">
                <a:solidFill>
                  <a:srgbClr val="282828"/>
                </a:solidFill>
                <a:latin typeface="Calibri"/>
              </a:rPr>
              <a:t> Modelar la estructura desacoplada de identidad (PARTY), roles y mecanismos de contacto (3FN/BCNF).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200" b="1">
                <a:solidFill>
                  <a:srgbClr val="000000"/>
                </a:solidFill>
                <a:latin typeface="Calibri"/>
              </a:rPr>
              <a:t>OE2:</a:t>
            </a:r>
            <a:r>
              <a:rPr sz="1200" b="0">
                <a:solidFill>
                  <a:srgbClr val="282828"/>
                </a:solidFill>
                <a:latin typeface="Calibri"/>
              </a:rPr>
              <a:t> Implementar relaciones temporales dirigidas para el control histórico de avales y asignación de cobradores.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200" b="1">
                <a:solidFill>
                  <a:srgbClr val="000000"/>
                </a:solidFill>
                <a:latin typeface="Calibri"/>
              </a:rPr>
              <a:t>OE3:</a:t>
            </a:r>
            <a:r>
              <a:rPr sz="1200" b="0">
                <a:solidFill>
                  <a:srgbClr val="282828"/>
                </a:solidFill>
                <a:latin typeface="Calibri"/>
              </a:rPr>
              <a:t> Diseñar el núcleo financiero transaccional para el desembolso de créditos y registro de pagos diarios.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200" b="1">
                <a:solidFill>
                  <a:srgbClr val="000000"/>
                </a:solidFill>
                <a:latin typeface="Calibri"/>
              </a:rPr>
              <a:t>OE4:</a:t>
            </a:r>
            <a:r>
              <a:rPr sz="1200" b="0">
                <a:solidFill>
                  <a:srgbClr val="282828"/>
                </a:solidFill>
                <a:latin typeface="Calibri"/>
              </a:rPr>
              <a:t> Definir e implementar políticas de seguridad DCL y un plan de respaldo/recuperación en SQL Server.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Calibri"/>
              </a:defRPr>
            </a:pPr>
            <a:r>
              <a:t>Propuestas Evaluadas y Justificación de la Alternativa Elegida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97049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Calibri"/>
              </a:defRPr>
            </a:pPr>
            <a:r>
              <a:t>Curso: Base de Datos — Proyecto Final BGG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Calibri"/>
              </a:defRPr>
            </a:pPr>
            <a:r>
              <a:t>Diapositiva 6 / 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25880"/>
          <a:ext cx="10728655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095"/>
                <a:gridCol w="2194560"/>
                <a:gridCol w="2194560"/>
                <a:gridCol w="2377440"/>
              </a:tblGrid>
              <a:tr h="470262">
                <a:tc>
                  <a:txBody>
                    <a:bodyPr wrap="square" lIns="109728" rIns="109728" tIns="54864" bIns="54864"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 de Evaluación (Escala 0–10)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Propuesta 1: Modelo Tradicional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Propuesta 2: Base NoSQL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b="1" sz="1100">
                          <a:solidFill>
                            <a:srgbClr val="FFC000"/>
                          </a:solidFill>
                          <a:latin typeface="Calibri"/>
                        </a:defRPr>
                      </a:pPr>
                      <a:r>
                        <a:t>Propuesta 3 (Elegida): Patrón PARTY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470262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Integridad Transaccional y ACID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Eliminación de Redundancia de Datos</a:t>
                      </a:r>
                    </a:p>
                  </a:txBody>
                  <a:tcPr>
                    <a:solidFill>
                      <a:srgbClr val="FFF3CC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3CC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3CC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3CC"/>
                    </a:solidFill>
                  </a:tcPr>
                </a:tc>
              </a:tr>
              <a:tr h="470262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Trazabilidad Histórica y Auditoría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Flexibilidad ante Nuevos Roles</a:t>
                      </a:r>
                    </a:p>
                  </a:txBody>
                  <a:tcPr>
                    <a:solidFill>
                      <a:srgbClr val="FFF3CC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3CC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3CC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3CC"/>
                    </a:solidFill>
                  </a:tcPr>
                </a:tc>
              </a:tr>
              <a:tr h="470262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Facilidad de Soporte y Madurez SGBD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 lIns="109728" rIns="109728" tIns="54864" bIns="54864"/>
                    <a:lstStyle/>
                    <a:p>
                      <a:pPr>
                        <a:defRPr b="1"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Puntaje Total Ponderado</a:t>
                      </a:r>
                    </a:p>
                  </a:txBody>
                  <a:tcPr>
                    <a:solidFill>
                      <a:srgbClr val="FFF3CC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b="1"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25 / 50</a:t>
                      </a:r>
                    </a:p>
                  </a:txBody>
                  <a:tcPr>
                    <a:solidFill>
                      <a:srgbClr val="FFF3CC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b="1"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29 / 50</a:t>
                      </a:r>
                    </a:p>
                  </a:txBody>
                  <a:tcPr>
                    <a:solidFill>
                      <a:srgbClr val="FFF3CC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b="1" sz="11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48 / 50</a:t>
                      </a:r>
                    </a:p>
                  </a:txBody>
                  <a:tcPr>
                    <a:solidFill>
                      <a:srgbClr val="FFF3C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892040"/>
            <a:ext cx="10728655" cy="1097280"/>
          </a:xfrm>
          <a:prstGeom prst="roundRect">
            <a:avLst/>
          </a:prstGeom>
          <a:solidFill>
            <a:srgbClr val="FFF3CC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/>
          <a:lstStyle/>
          <a:p>
            <a:pPr algn="ctr">
              <a:defRPr sz="1200" b="1">
                <a:solidFill>
                  <a:srgbClr val="000000"/>
                </a:solidFill>
                <a:latin typeface="Calibri"/>
              </a:defRPr>
            </a:pPr>
            <a:r>
              <a:t>Justificación de la Elección Técnica:</a:t>
            </a:r>
          </a:p>
          <a:p>
            <a:pPr>
              <a:spcBef>
                <a:spcPts val="300"/>
              </a:spcBef>
              <a:defRPr sz="1100">
                <a:solidFill>
                  <a:srgbClr val="282828"/>
                </a:solidFill>
                <a:latin typeface="Calibri"/>
              </a:defRPr>
            </a:pPr>
            <a:r>
              <a:t>La Propuesta 3 (Patrón PARTY en SQL Server) obtuvo la máxima puntuación gracias a su capacidad de unificar identidades en un núcleo desacoplado, garantizando trazabilidad histórica completa sin duplicar tablas por rol y asegurando consistencia transaccional ACID estricta para préstamos y cobranzas.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Calibri"/>
              </a:defRPr>
            </a:pPr>
            <a:r>
              <a:t>Modelado del Negocio: Procesos AS-IS vs. TO-BE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97049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Calibri"/>
              </a:defRPr>
            </a:pPr>
            <a:r>
              <a:t>Curso: Base de Datos — Proyecto Final BGG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Calibri"/>
              </a:defRPr>
            </a:pPr>
            <a:r>
              <a:t>Diapositiva 7 / 15</a:t>
            </a:r>
          </a:p>
        </p:txBody>
      </p:sp>
      <p:pic>
        <p:nvPicPr>
          <p:cNvPr id="8" name="Picture 7" descr="slide7_proces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677" y="1280160"/>
            <a:ext cx="2718340" cy="4023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4864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Impacto Operativo:</a:t>
            </a:r>
            <a:r>
              <a:rPr sz="1200" b="0">
                <a:solidFill>
                  <a:srgbClr val="282828"/>
                </a:solidFill>
                <a:latin typeface="Calibri"/>
              </a:rPr>
              <a:t> Reducción a cero de duplicados de identidad, validación automática de garantías activas y control exacto de cobranza diaria en SQL Server.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Calibri"/>
              </a:defRPr>
            </a:pPr>
            <a:r>
              <a:t>Fundamento del Patrón de Modelado PARTY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97049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Calibri"/>
              </a:defRPr>
            </a:pPr>
            <a:r>
              <a:t>Curso: Base de Datos — Proyecto Final BGG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Calibri"/>
              </a:defRPr>
            </a:pPr>
            <a:r>
              <a:t>Diapositiva 8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10728655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Referencia Académica:</a:t>
            </a:r>
            <a:r>
              <a:rPr sz="1300" b="0">
                <a:solidFill>
                  <a:srgbClr val="282828"/>
                </a:solidFill>
                <a:latin typeface="Calibri"/>
              </a:rPr>
              <a:t> Silverston, Len (2001). *The Data Model Resource Book (Vol. 1)*.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282828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Separación de Responsabilidades en Tres Preguntas Ontológicas: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150" b="1">
                <a:solidFill>
                  <a:srgbClr val="000000"/>
                </a:solidFill>
                <a:latin typeface="Calibri"/>
              </a:rPr>
              <a:t>1. ¿Quién existe? (Identidad Ontológica):</a:t>
            </a:r>
            <a:r>
              <a:rPr sz="1150" b="0">
                <a:solidFill>
                  <a:srgbClr val="282828"/>
                </a:solidFill>
                <a:latin typeface="Calibri"/>
              </a:rPr>
              <a:t> </a:t>
            </a:r>
            <a:r>
              <a:rPr sz="1150" b="1">
                <a:solidFill>
                  <a:srgbClr val="3C3C3C"/>
                </a:solidFill>
                <a:latin typeface="Calibri"/>
              </a:rPr>
              <a:t>PARTY</a:t>
            </a:r>
            <a:r>
              <a:rPr sz="1150" b="0">
                <a:solidFill>
                  <a:srgbClr val="282828"/>
                </a:solidFill>
                <a:latin typeface="Calibri"/>
              </a:rPr>
              <a:t>, </a:t>
            </a:r>
            <a:r>
              <a:rPr sz="1150" b="1">
                <a:solidFill>
                  <a:srgbClr val="3C3C3C"/>
                </a:solidFill>
                <a:latin typeface="Calibri"/>
              </a:rPr>
              <a:t>PERSON</a:t>
            </a:r>
            <a:r>
              <a:rPr sz="1150" b="0">
                <a:solidFill>
                  <a:srgbClr val="282828"/>
                </a:solidFill>
                <a:latin typeface="Calibri"/>
              </a:rPr>
              <a:t>, </a:t>
            </a:r>
            <a:r>
              <a:rPr sz="1150" b="1">
                <a:solidFill>
                  <a:srgbClr val="3C3C3C"/>
                </a:solidFill>
                <a:latin typeface="Calibri"/>
              </a:rPr>
              <a:t>ORGANIZATION</a:t>
            </a:r>
            <a:r>
              <a:rPr sz="1150" b="0">
                <a:solidFill>
                  <a:srgbClr val="282828"/>
                </a:solidFill>
                <a:latin typeface="Calibri"/>
              </a:rPr>
              <a:t> (inmutables, clave subrogada).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150" b="1">
                <a:solidFill>
                  <a:srgbClr val="000000"/>
                </a:solidFill>
                <a:latin typeface="Calibri"/>
              </a:rPr>
              <a:t>2. ¿Qué función ejerce? (Rol de Negocio):</a:t>
            </a:r>
            <a:r>
              <a:rPr sz="1150" b="0">
                <a:solidFill>
                  <a:srgbClr val="282828"/>
                </a:solidFill>
                <a:latin typeface="Calibri"/>
              </a:rPr>
              <a:t> </a:t>
            </a:r>
            <a:r>
              <a:rPr sz="1150" b="1">
                <a:solidFill>
                  <a:srgbClr val="3C3C3C"/>
                </a:solidFill>
                <a:latin typeface="Calibri"/>
              </a:rPr>
              <a:t>PARTY_ROLE</a:t>
            </a:r>
            <a:r>
              <a:rPr sz="1150" b="0">
                <a:solidFill>
                  <a:srgbClr val="282828"/>
                </a:solidFill>
                <a:latin typeface="Calibri"/>
              </a:rPr>
              <a:t> (</a:t>
            </a:r>
            <a:r>
              <a:rPr sz="1150" b="1">
                <a:solidFill>
                  <a:srgbClr val="3C3C3C"/>
                </a:solidFill>
                <a:latin typeface="Calibri"/>
              </a:rPr>
              <a:t>CLIENTE</a:t>
            </a:r>
            <a:r>
              <a:rPr sz="1150" b="0">
                <a:solidFill>
                  <a:srgbClr val="282828"/>
                </a:solidFill>
                <a:latin typeface="Calibri"/>
              </a:rPr>
              <a:t>, </a:t>
            </a:r>
            <a:r>
              <a:rPr sz="1150" b="1">
                <a:solidFill>
                  <a:srgbClr val="3C3C3C"/>
                </a:solidFill>
                <a:latin typeface="Calibri"/>
              </a:rPr>
              <a:t>PRESTATARIO</a:t>
            </a:r>
            <a:r>
              <a:rPr sz="1150" b="0">
                <a:solidFill>
                  <a:srgbClr val="282828"/>
                </a:solidFill>
                <a:latin typeface="Calibri"/>
              </a:rPr>
              <a:t>, </a:t>
            </a:r>
            <a:r>
              <a:rPr sz="1150" b="1">
                <a:solidFill>
                  <a:srgbClr val="3C3C3C"/>
                </a:solidFill>
                <a:latin typeface="Calibri"/>
              </a:rPr>
              <a:t>AVAL</a:t>
            </a:r>
            <a:r>
              <a:rPr sz="1150" b="0">
                <a:solidFill>
                  <a:srgbClr val="282828"/>
                </a:solidFill>
                <a:latin typeface="Calibri"/>
              </a:rPr>
              <a:t>, </a:t>
            </a:r>
            <a:r>
              <a:rPr sz="1150" b="1">
                <a:solidFill>
                  <a:srgbClr val="3C3C3C"/>
                </a:solidFill>
                <a:latin typeface="Calibri"/>
              </a:rPr>
              <a:t>COBRADOR</a:t>
            </a:r>
            <a:r>
              <a:rPr sz="1150" b="0">
                <a:solidFill>
                  <a:srgbClr val="282828"/>
                </a:solidFill>
                <a:latin typeface="Calibri"/>
              </a:rPr>
              <a:t>) con vigencia temporal.</a:t>
            </a:r>
          </a:p>
          <a:p>
            <a:pPr>
              <a:spcAft>
                <a:spcPts val="200"/>
              </a:spcAft>
            </a:pPr>
            <a:r>
              <a:rPr sz="115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150" b="1">
                <a:solidFill>
                  <a:srgbClr val="000000"/>
                </a:solidFill>
                <a:latin typeface="Calibri"/>
              </a:rPr>
              <a:t>3. ¿Con quién se relaciona? (Vínculo Dirigido):</a:t>
            </a:r>
            <a:r>
              <a:rPr sz="1150" b="0">
                <a:solidFill>
                  <a:srgbClr val="282828"/>
                </a:solidFill>
                <a:latin typeface="Calibri"/>
              </a:rPr>
              <a:t> </a:t>
            </a:r>
            <a:r>
              <a:rPr sz="1150" b="1">
                <a:solidFill>
                  <a:srgbClr val="3C3C3C"/>
                </a:solidFill>
                <a:latin typeface="Calibri"/>
              </a:rPr>
              <a:t>PARTY_RELATIONSHIP</a:t>
            </a:r>
            <a:r>
              <a:rPr sz="1150" b="0">
                <a:solidFill>
                  <a:srgbClr val="282828"/>
                </a:solidFill>
                <a:latin typeface="Calibri"/>
              </a:rPr>
              <a:t> (vínculos dirigidos de aval y asignación de cobranza).</a:t>
            </a:r>
          </a:p>
        </p:txBody>
      </p:sp>
      <p:pic>
        <p:nvPicPr>
          <p:cNvPr id="9" name="Picture 8" descr="slide8_par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42888"/>
            <a:ext cx="10728655" cy="15154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Calibri"/>
              </a:defRPr>
            </a:pPr>
            <a:r>
              <a:t>Modelo Conceptual y Lógico TO-BE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97049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Calibri"/>
              </a:defRPr>
            </a:pPr>
            <a:r>
              <a:t>Curso: Base de Datos — Proyecto Final BGG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Calibri"/>
              </a:defRPr>
            </a:pPr>
            <a:r>
              <a:t>Diapositiva 9 / 15</a:t>
            </a:r>
          </a:p>
        </p:txBody>
      </p:sp>
      <p:pic>
        <p:nvPicPr>
          <p:cNvPr id="8" name="Picture 7" descr="slide9_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3212" y="1234440"/>
            <a:ext cx="646527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Calibri"/>
              </a:defRPr>
            </a:pPr>
            <a:r>
              <a:t>Modelo Físico y Decisiones de Normalización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97049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Calibri"/>
              </a:defRPr>
            </a:pPr>
            <a:r>
              <a:t>Curso: Base de Datos — Proyecto Final BGG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Calibri"/>
              </a:defRPr>
            </a:pPr>
            <a:r>
              <a:t>Diapositiva 10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Estado AS-IS (No Normalizado / 1FN Deficiente)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Tablas aisladas y redundantes por rol (</a:t>
            </a:r>
            <a:r>
              <a:rPr sz="1200" b="1">
                <a:solidFill>
                  <a:srgbClr val="3C3C3C"/>
                </a:solidFill>
                <a:latin typeface="Calibri"/>
              </a:rPr>
              <a:t>tbl_clientes</a:t>
            </a:r>
            <a:r>
              <a:rPr sz="1200" b="0">
                <a:solidFill>
                  <a:srgbClr val="282828"/>
                </a:solidFill>
                <a:latin typeface="Calibri"/>
              </a:rPr>
              <a:t>, </a:t>
            </a:r>
            <a:r>
              <a:rPr sz="1200" b="1">
                <a:solidFill>
                  <a:srgbClr val="3C3C3C"/>
                </a:solidFill>
                <a:latin typeface="Calibri"/>
              </a:rPr>
              <a:t>tbl_avales</a:t>
            </a:r>
            <a:r>
              <a:rPr sz="1200" b="0">
                <a:solidFill>
                  <a:srgbClr val="282828"/>
                </a:solidFill>
                <a:latin typeface="Calibri"/>
              </a:rPr>
              <a:t>, </a:t>
            </a:r>
            <a:r>
              <a:rPr sz="1200" b="1">
                <a:solidFill>
                  <a:srgbClr val="3C3C3C"/>
                </a:solidFill>
                <a:latin typeface="Calibri"/>
              </a:rPr>
              <a:t>tbl_cobradores</a:t>
            </a:r>
            <a:r>
              <a:rPr sz="1200" b="0">
                <a:solidFill>
                  <a:srgbClr val="282828"/>
                </a:solidFill>
                <a:latin typeface="Calibri"/>
              </a:rPr>
              <a:t>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Columnas NULL masivas (razón social nula para personas, nombres/género nulos para empresas).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Atributos multivalor repetitivos para números telefónicos y mecanismos de contacto.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Uso de documentos (DNI/RUC) como PK: falla con extranjeros o clientes sin documento definitivo.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Anomalías de actualización: modificar un teléfono deja las demás tablas desactualizadas.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325880"/>
            <a:ext cx="5212080" cy="4663440"/>
          </a:xfrm>
          <a:prstGeom prst="roundRect">
            <a:avLst/>
          </a:prstGeom>
          <a:solidFill>
            <a:srgbClr val="FFF3CC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Estado TO-BE (Normalizado en 3FN y BCNF)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</a:t>
            </a:r>
            <a:r>
              <a:rPr sz="1200" b="1">
                <a:solidFill>
                  <a:srgbClr val="000000"/>
                </a:solidFill>
                <a:latin typeface="Calibri"/>
              </a:rPr>
              <a:t>1FN (Atomicidad e Identidad Subrogada):</a:t>
            </a:r>
            <a:r>
              <a:rPr sz="1200" b="0">
                <a:solidFill>
                  <a:srgbClr val="282828"/>
                </a:solidFill>
                <a:latin typeface="Calibri"/>
              </a:rPr>
              <a:t> Claves </a:t>
            </a:r>
            <a:r>
              <a:rPr sz="1200" b="1">
                <a:solidFill>
                  <a:srgbClr val="3C3C3C"/>
                </a:solidFill>
                <a:latin typeface="Calibri"/>
              </a:rPr>
              <a:t>BIGINT</a:t>
            </a:r>
            <a:r>
              <a:rPr sz="1200" b="0">
                <a:solidFill>
                  <a:srgbClr val="282828"/>
                </a:solidFill>
                <a:latin typeface="Calibri"/>
              </a:rPr>
              <a:t> únicas (</a:t>
            </a:r>
            <a:r>
              <a:rPr sz="1200" b="1">
                <a:solidFill>
                  <a:srgbClr val="3C3C3C"/>
                </a:solidFill>
                <a:latin typeface="Calibri"/>
              </a:rPr>
              <a:t>party_id</a:t>
            </a:r>
            <a:r>
              <a:rPr sz="1200" b="0">
                <a:solidFill>
                  <a:srgbClr val="282828"/>
                </a:solidFill>
                <a:latin typeface="Calibri"/>
              </a:rPr>
              <a:t>), atributos atómicos y teléfonos desacoplados en </a:t>
            </a:r>
            <a:r>
              <a:rPr sz="1200" b="1">
                <a:solidFill>
                  <a:srgbClr val="3C3C3C"/>
                </a:solidFill>
                <a:latin typeface="Calibri"/>
              </a:rPr>
              <a:t>CONTACT_MECHANISM</a:t>
            </a:r>
            <a:r>
              <a:rPr sz="1200" b="0">
                <a:solidFill>
                  <a:srgbClr val="282828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</a:t>
            </a:r>
            <a:r>
              <a:rPr sz="1200" b="1">
                <a:solidFill>
                  <a:srgbClr val="000000"/>
                </a:solidFill>
                <a:latin typeface="Calibri"/>
              </a:rPr>
              <a:t>2FN (Dependencia Funcional Completa):</a:t>
            </a:r>
            <a:r>
              <a:rPr sz="1200" b="0">
                <a:solidFill>
                  <a:srgbClr val="282828"/>
                </a:solidFill>
                <a:latin typeface="Calibri"/>
              </a:rPr>
              <a:t> Separación de herencia 1:1 (</a:t>
            </a:r>
            <a:r>
              <a:rPr sz="1200" b="1">
                <a:solidFill>
                  <a:srgbClr val="3C3C3C"/>
                </a:solidFill>
                <a:latin typeface="Calibri"/>
              </a:rPr>
              <a:t>PERSON</a:t>
            </a:r>
            <a:r>
              <a:rPr sz="1200" b="0">
                <a:solidFill>
                  <a:srgbClr val="282828"/>
                </a:solidFill>
                <a:latin typeface="Calibri"/>
              </a:rPr>
              <a:t> y </a:t>
            </a:r>
            <a:r>
              <a:rPr sz="1200" b="1">
                <a:solidFill>
                  <a:srgbClr val="3C3C3C"/>
                </a:solidFill>
                <a:latin typeface="Calibri"/>
              </a:rPr>
              <a:t>ORGANIZATION</a:t>
            </a:r>
            <a:r>
              <a:rPr sz="1200" b="0">
                <a:solidFill>
                  <a:srgbClr val="282828"/>
                </a:solidFill>
                <a:latin typeface="Calibri"/>
              </a:rPr>
              <a:t>) dependiendo exclusivamente de su clave.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</a:t>
            </a:r>
            <a:r>
              <a:rPr sz="1200" b="1">
                <a:solidFill>
                  <a:srgbClr val="000000"/>
                </a:solidFill>
                <a:latin typeface="Calibri"/>
              </a:rPr>
              <a:t>3FN / BCNF (Cero Dependencias Transitivas):</a:t>
            </a:r>
            <a:r>
              <a:rPr sz="1200" b="0">
                <a:solidFill>
                  <a:srgbClr val="282828"/>
                </a:solidFill>
                <a:latin typeface="Calibri"/>
              </a:rPr>
              <a:t> Eliminación total de anomalías; los roles y créditos cuelgan de claves especializadas sin contaminar la identidad raíz.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Calibri"/>
              </a:defRPr>
            </a:pPr>
            <a:r>
              <a:t>Despliegue en SQL Server y Restricciones Técnicas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97049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Calibri"/>
              </a:defRPr>
            </a:pPr>
            <a:r>
              <a:t>Curso: Base de Datos — Proyecto Final BGG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Calibri"/>
              </a:defRPr>
            </a:pPr>
            <a:r>
              <a:t>Diapositiva 11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2865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Tipos de Datos y Precisión:</a:t>
            </a:r>
            <a:r>
              <a:rPr sz="1300" b="0">
                <a:solidFill>
                  <a:srgbClr val="000000"/>
                </a:solidFill>
                <a:latin typeface="Calibri"/>
              </a:rPr>
              <a:t> Claves </a:t>
            </a:r>
            <a:r>
              <a:rPr sz="1300" b="1">
                <a:solidFill>
                  <a:srgbClr val="3C3C3C"/>
                </a:solidFill>
                <a:latin typeface="Calibri"/>
              </a:rPr>
              <a:t>BIGINT</a:t>
            </a:r>
            <a:r>
              <a:rPr sz="1300" b="0">
                <a:solidFill>
                  <a:srgbClr val="000000"/>
                </a:solidFill>
                <a:latin typeface="Calibri"/>
              </a:rPr>
              <a:t> para escalabilidad masiva, montos monetarios en </a:t>
            </a:r>
            <a:r>
              <a:rPr sz="1300" b="1">
                <a:solidFill>
                  <a:srgbClr val="3C3C3C"/>
                </a:solidFill>
                <a:latin typeface="Calibri"/>
              </a:rPr>
              <a:t>DECIMAL(12,2)</a:t>
            </a:r>
            <a:r>
              <a:rPr sz="1300" b="0">
                <a:solidFill>
                  <a:srgbClr val="000000"/>
                </a:solidFill>
                <a:latin typeface="Calibri"/>
              </a:rPr>
              <a:t> y fechas normalizadas en </a:t>
            </a:r>
            <a:r>
              <a:rPr sz="1300" b="1">
                <a:solidFill>
                  <a:srgbClr val="3C3C3C"/>
                </a:solidFill>
                <a:latin typeface="Calibri"/>
              </a:rPr>
              <a:t>DATE</a:t>
            </a:r>
            <a:r>
              <a:rPr sz="1300" b="0">
                <a:solidFill>
                  <a:srgbClr val="000000"/>
                </a:solidFill>
                <a:latin typeface="Calibri"/>
              </a:rPr>
              <a:t>/</a:t>
            </a:r>
            <a:r>
              <a:rPr sz="1300" b="1">
                <a:solidFill>
                  <a:srgbClr val="3C3C3C"/>
                </a:solidFill>
                <a:latin typeface="Calibri"/>
              </a:rPr>
              <a:t>DATETIME</a:t>
            </a:r>
            <a:r>
              <a:rPr sz="1300" b="0">
                <a:solidFill>
                  <a:srgbClr val="000000"/>
                </a:solidFill>
                <a:latin typeface="Calibri"/>
              </a:rPr>
              <a:t>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Integridad Referencial y Restricciones (Constraints):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200" b="1">
                <a:solidFill>
                  <a:srgbClr val="000000"/>
                </a:solidFill>
                <a:latin typeface="Calibri"/>
              </a:rPr>
              <a:t>Integridad de Herencia (1:1):</a:t>
            </a:r>
            <a:r>
              <a:rPr sz="1200" b="0">
                <a:solidFill>
                  <a:srgbClr val="282828"/>
                </a:solidFill>
                <a:latin typeface="Calibri"/>
              </a:rPr>
              <a:t> </a:t>
            </a:r>
            <a:r>
              <a:rPr sz="1200" b="1">
                <a:solidFill>
                  <a:srgbClr val="3C3C3C"/>
                </a:solidFill>
                <a:latin typeface="Calibri"/>
              </a:rPr>
              <a:t>PERSON.party_id</a:t>
            </a:r>
            <a:r>
              <a:rPr sz="1200" b="0">
                <a:solidFill>
                  <a:srgbClr val="282828"/>
                </a:solidFill>
                <a:latin typeface="Calibri"/>
              </a:rPr>
              <a:t> y </a:t>
            </a:r>
            <a:r>
              <a:rPr sz="1200" b="1">
                <a:solidFill>
                  <a:srgbClr val="3C3C3C"/>
                </a:solidFill>
                <a:latin typeface="Calibri"/>
              </a:rPr>
              <a:t>ORGANIZATION.party_id</a:t>
            </a:r>
            <a:r>
              <a:rPr sz="1200" b="0">
                <a:solidFill>
                  <a:srgbClr val="282828"/>
                </a:solidFill>
                <a:latin typeface="Calibri"/>
              </a:rPr>
              <a:t> como PK y FK simultánea hacia </a:t>
            </a:r>
            <a:r>
              <a:rPr sz="1200" b="1">
                <a:solidFill>
                  <a:srgbClr val="3C3C3C"/>
                </a:solidFill>
                <a:latin typeface="Calibri"/>
              </a:rPr>
              <a:t>PARTY.party_id</a:t>
            </a:r>
            <a:r>
              <a:rPr sz="1200" b="0">
                <a:solidFill>
                  <a:srgbClr val="282828"/>
                </a:solidFill>
                <a:latin typeface="Calibri"/>
              </a:rPr>
              <a:t>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200" b="1">
                <a:solidFill>
                  <a:srgbClr val="000000"/>
                </a:solidFill>
                <a:latin typeface="Calibri"/>
              </a:rPr>
              <a:t>Unicidad Documentaria:</a:t>
            </a:r>
            <a:r>
              <a:rPr sz="1200" b="0">
                <a:solidFill>
                  <a:srgbClr val="282828"/>
                </a:solidFill>
                <a:latin typeface="Calibri"/>
              </a:rPr>
              <a:t> </a:t>
            </a:r>
            <a:r>
              <a:rPr sz="1200" b="1">
                <a:solidFill>
                  <a:srgbClr val="3C3C3C"/>
                </a:solidFill>
                <a:latin typeface="Calibri"/>
              </a:rPr>
              <a:t>UNIQUE (id_type, id_value)</a:t>
            </a:r>
            <a:r>
              <a:rPr sz="1200" b="0">
                <a:solidFill>
                  <a:srgbClr val="282828"/>
                </a:solidFill>
                <a:latin typeface="Calibri"/>
              </a:rPr>
              <a:t> en </a:t>
            </a:r>
            <a:r>
              <a:rPr sz="1200" b="1">
                <a:solidFill>
                  <a:srgbClr val="3C3C3C"/>
                </a:solidFill>
                <a:latin typeface="Calibri"/>
              </a:rPr>
              <a:t>PARTY_IDENTIFIER</a:t>
            </a:r>
            <a:r>
              <a:rPr sz="1200" b="0">
                <a:solidFill>
                  <a:srgbClr val="282828"/>
                </a:solidFill>
                <a:latin typeface="Calibri"/>
              </a:rPr>
              <a:t> para evitar duplicidad de DNI/RUC.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200" b="1">
                <a:solidFill>
                  <a:srgbClr val="000000"/>
                </a:solidFill>
                <a:latin typeface="Calibri"/>
              </a:rPr>
              <a:t>Validación Antirrecursiva en Grafo:</a:t>
            </a:r>
            <a:r>
              <a:rPr sz="1200" b="0">
                <a:solidFill>
                  <a:srgbClr val="282828"/>
                </a:solidFill>
                <a:latin typeface="Calibri"/>
              </a:rPr>
              <a:t> </a:t>
            </a:r>
            <a:r>
              <a:rPr sz="1200" b="1">
                <a:solidFill>
                  <a:srgbClr val="3C3C3C"/>
                </a:solidFill>
                <a:latin typeface="Calibri"/>
              </a:rPr>
              <a:t>CHECK (from_party_id &lt;&gt; to_party_id)</a:t>
            </a:r>
            <a:r>
              <a:rPr sz="1200" b="0">
                <a:solidFill>
                  <a:srgbClr val="282828"/>
                </a:solidFill>
                <a:latin typeface="Calibri"/>
              </a:rPr>
              <a:t> en </a:t>
            </a:r>
            <a:r>
              <a:rPr sz="1200" b="1">
                <a:solidFill>
                  <a:srgbClr val="3C3C3C"/>
                </a:solidFill>
                <a:latin typeface="Calibri"/>
              </a:rPr>
              <a:t>PARTY_RELATIONSHIP</a:t>
            </a:r>
            <a:r>
              <a:rPr sz="1200" b="0">
                <a:solidFill>
                  <a:srgbClr val="282828"/>
                </a:solidFill>
                <a:latin typeface="Calibri"/>
              </a:rPr>
              <a:t>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200" b="1">
                <a:solidFill>
                  <a:srgbClr val="000000"/>
                </a:solidFill>
                <a:latin typeface="Calibri"/>
              </a:rPr>
              <a:t>Control de Dominio:</a:t>
            </a:r>
            <a:r>
              <a:rPr sz="1200" b="0">
                <a:solidFill>
                  <a:srgbClr val="282828"/>
                </a:solidFill>
                <a:latin typeface="Calibri"/>
              </a:rPr>
              <a:t> </a:t>
            </a:r>
            <a:r>
              <a:rPr sz="1200" b="1">
                <a:solidFill>
                  <a:srgbClr val="3C3C3C"/>
                </a:solidFill>
                <a:latin typeface="Calibri"/>
              </a:rPr>
              <a:t>CHECK (party_type IN ('PERSON', 'ORGANIZATION'))</a:t>
            </a:r>
            <a:r>
              <a:rPr sz="1200" b="0">
                <a:solidFill>
                  <a:srgbClr val="282828"/>
                </a:solidFill>
                <a:latin typeface="Calibri"/>
              </a:rPr>
              <a:t> y estados en valores controlados (</a:t>
            </a:r>
            <a:r>
              <a:rPr sz="1200" b="1">
                <a:solidFill>
                  <a:srgbClr val="3C3C3C"/>
                </a:solidFill>
                <a:latin typeface="Calibri"/>
              </a:rPr>
              <a:t>VIGENTE</a:t>
            </a:r>
            <a:r>
              <a:rPr sz="1200" b="0">
                <a:solidFill>
                  <a:srgbClr val="282828"/>
                </a:solidFill>
                <a:latin typeface="Calibri"/>
              </a:rPr>
              <a:t>, </a:t>
            </a:r>
            <a:r>
              <a:rPr sz="1200" b="1">
                <a:solidFill>
                  <a:srgbClr val="3C3C3C"/>
                </a:solidFill>
                <a:latin typeface="Calibri"/>
              </a:rPr>
              <a:t>CANCELADO</a:t>
            </a:r>
            <a:r>
              <a:rPr sz="1200" b="0">
                <a:solidFill>
                  <a:srgbClr val="282828"/>
                </a:solidFill>
                <a:latin typeface="Calibri"/>
              </a:rPr>
              <a:t>, </a:t>
            </a:r>
            <a:r>
              <a:rPr sz="1200" b="1">
                <a:solidFill>
                  <a:srgbClr val="3C3C3C"/>
                </a:solidFill>
                <a:latin typeface="Calibri"/>
              </a:rPr>
              <a:t>MOROSO</a:t>
            </a:r>
            <a:r>
              <a:rPr sz="1200" b="0">
                <a:solidFill>
                  <a:srgbClr val="282828"/>
                </a:solidFill>
                <a:latin typeface="Calibri"/>
              </a:rPr>
              <a:t>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Calibri"/>
              </a:defRPr>
            </a:pPr>
            <a:r>
              <a:t>Políticas de Seguridad y Control de Acceso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97049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Calibri"/>
              </a:defRPr>
            </a:pPr>
            <a:r>
              <a:t>Curso: Base de Datos — Proyecto Final BGG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Calibri"/>
              </a:defRPr>
            </a:pPr>
            <a:r>
              <a:t>Diapositiva 12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2865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Desacoplamiento Conceptual:</a:t>
            </a:r>
            <a:r>
              <a:rPr sz="1300" b="0">
                <a:solidFill>
                  <a:srgbClr val="000000"/>
                </a:solidFill>
                <a:latin typeface="Calibri"/>
              </a:rPr>
              <a:t> Los roles de negocio (</a:t>
            </a:r>
            <a:r>
              <a:rPr sz="1300" b="1">
                <a:solidFill>
                  <a:srgbClr val="3C3C3C"/>
                </a:solidFill>
                <a:latin typeface="Calibri"/>
              </a:rPr>
              <a:t>PARTY_ROLE</a:t>
            </a:r>
            <a:r>
              <a:rPr sz="1300" b="0">
                <a:solidFill>
                  <a:srgbClr val="000000"/>
                </a:solidFill>
                <a:latin typeface="Calibri"/>
              </a:rPr>
              <a:t>) son independientes de las cuentas de seguridad del SGBD.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Roles y Privilegios en SQL Server (DCL):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200" b="1">
                <a:solidFill>
                  <a:srgbClr val="000000"/>
                </a:solidFill>
                <a:latin typeface="Calibri"/>
              </a:rPr>
              <a:t>`rol_cajero_cobrador`:</a:t>
            </a:r>
            <a:r>
              <a:rPr sz="1200" b="0">
                <a:solidFill>
                  <a:srgbClr val="282828"/>
                </a:solidFill>
                <a:latin typeface="Calibri"/>
              </a:rPr>
              <a:t> Permisos de </a:t>
            </a:r>
            <a:r>
              <a:rPr sz="1200" b="1">
                <a:solidFill>
                  <a:srgbClr val="3C3C3C"/>
                </a:solidFill>
                <a:latin typeface="Calibri"/>
              </a:rPr>
              <a:t>INSERT</a:t>
            </a:r>
            <a:r>
              <a:rPr sz="1200" b="0">
                <a:solidFill>
                  <a:srgbClr val="282828"/>
                </a:solidFill>
                <a:latin typeface="Calibri"/>
              </a:rPr>
              <a:t> sobre </a:t>
            </a:r>
            <a:r>
              <a:rPr sz="1200" b="1">
                <a:solidFill>
                  <a:srgbClr val="3C3C3C"/>
                </a:solidFill>
                <a:latin typeface="Calibri"/>
              </a:rPr>
              <a:t>PAGO</a:t>
            </a:r>
            <a:r>
              <a:rPr sz="1200" b="0">
                <a:solidFill>
                  <a:srgbClr val="282828"/>
                </a:solidFill>
                <a:latin typeface="Calibri"/>
              </a:rPr>
              <a:t> y </a:t>
            </a:r>
            <a:r>
              <a:rPr sz="1200" b="1">
                <a:solidFill>
                  <a:srgbClr val="3C3C3C"/>
                </a:solidFill>
                <a:latin typeface="Calibri"/>
              </a:rPr>
              <a:t>SELECT</a:t>
            </a:r>
            <a:r>
              <a:rPr sz="1200" b="0">
                <a:solidFill>
                  <a:srgbClr val="282828"/>
                </a:solidFill>
                <a:latin typeface="Calibri"/>
              </a:rPr>
              <a:t> restringido sobre </a:t>
            </a:r>
            <a:r>
              <a:rPr sz="1200" b="1">
                <a:solidFill>
                  <a:srgbClr val="3C3C3C"/>
                </a:solidFill>
                <a:latin typeface="Calibri"/>
              </a:rPr>
              <a:t>CREDITO</a:t>
            </a:r>
            <a:r>
              <a:rPr sz="1200" b="0">
                <a:solidFill>
                  <a:srgbClr val="282828"/>
                </a:solidFill>
                <a:latin typeface="Calibri"/>
              </a:rPr>
              <a:t> y mecanismos de contacto de clientes asignados.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200" b="1">
                <a:solidFill>
                  <a:srgbClr val="000000"/>
                </a:solidFill>
                <a:latin typeface="Calibri"/>
              </a:rPr>
              <a:t>`rol_analista_creditos`:</a:t>
            </a:r>
            <a:r>
              <a:rPr sz="1200" b="0">
                <a:solidFill>
                  <a:srgbClr val="282828"/>
                </a:solidFill>
                <a:latin typeface="Calibri"/>
              </a:rPr>
              <a:t> Permisos de </a:t>
            </a:r>
            <a:r>
              <a:rPr sz="1200" b="1">
                <a:solidFill>
                  <a:srgbClr val="3C3C3C"/>
                </a:solidFill>
                <a:latin typeface="Calibri"/>
              </a:rPr>
              <a:t>INSERT</a:t>
            </a:r>
            <a:r>
              <a:rPr sz="1200" b="0">
                <a:solidFill>
                  <a:srgbClr val="282828"/>
                </a:solidFill>
                <a:latin typeface="Calibri"/>
              </a:rPr>
              <a:t>/</a:t>
            </a:r>
            <a:r>
              <a:rPr sz="1200" b="1">
                <a:solidFill>
                  <a:srgbClr val="3C3C3C"/>
                </a:solidFill>
                <a:latin typeface="Calibri"/>
              </a:rPr>
              <a:t>UPDATE</a:t>
            </a:r>
            <a:r>
              <a:rPr sz="1200" b="0">
                <a:solidFill>
                  <a:srgbClr val="282828"/>
                </a:solidFill>
                <a:latin typeface="Calibri"/>
              </a:rPr>
              <a:t> sobre </a:t>
            </a:r>
            <a:r>
              <a:rPr sz="1200" b="1">
                <a:solidFill>
                  <a:srgbClr val="3C3C3C"/>
                </a:solidFill>
                <a:latin typeface="Calibri"/>
              </a:rPr>
              <a:t>CREDITO</a:t>
            </a:r>
            <a:r>
              <a:rPr sz="1200" b="0">
                <a:solidFill>
                  <a:srgbClr val="282828"/>
                </a:solidFill>
                <a:latin typeface="Calibri"/>
              </a:rPr>
              <a:t>, </a:t>
            </a:r>
            <a:r>
              <a:rPr sz="1200" b="1">
                <a:solidFill>
                  <a:srgbClr val="3C3C3C"/>
                </a:solidFill>
                <a:latin typeface="Calibri"/>
              </a:rPr>
              <a:t>PRESTATARIO_DETAIL</a:t>
            </a:r>
            <a:r>
              <a:rPr sz="1200" b="0">
                <a:solidFill>
                  <a:srgbClr val="282828"/>
                </a:solidFill>
                <a:latin typeface="Calibri"/>
              </a:rPr>
              <a:t> y </a:t>
            </a:r>
            <a:r>
              <a:rPr sz="1200" b="1">
                <a:solidFill>
                  <a:srgbClr val="3C3C3C"/>
                </a:solidFill>
                <a:latin typeface="Calibri"/>
              </a:rPr>
              <a:t>PARTY_RELATIONSHIP</a:t>
            </a:r>
            <a:r>
              <a:rPr sz="1200" b="0">
                <a:solidFill>
                  <a:srgbClr val="282828"/>
                </a:solidFill>
                <a:latin typeface="Calibri"/>
              </a:rPr>
              <a:t> (avales).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200" b="1">
                <a:solidFill>
                  <a:srgbClr val="000000"/>
                </a:solidFill>
                <a:latin typeface="Calibri"/>
              </a:rPr>
              <a:t>`rol_auditor_cumplimiento`:</a:t>
            </a:r>
            <a:r>
              <a:rPr sz="1200" b="0">
                <a:solidFill>
                  <a:srgbClr val="282828"/>
                </a:solidFill>
                <a:latin typeface="Calibri"/>
              </a:rPr>
              <a:t> Permisos de solo lectura (</a:t>
            </a:r>
            <a:r>
              <a:rPr sz="1200" b="1">
                <a:solidFill>
                  <a:srgbClr val="3C3C3C"/>
                </a:solidFill>
                <a:latin typeface="Calibri"/>
              </a:rPr>
              <a:t>SELECT</a:t>
            </a:r>
            <a:r>
              <a:rPr sz="1200" b="0">
                <a:solidFill>
                  <a:srgbClr val="282828"/>
                </a:solidFill>
                <a:latin typeface="Calibri"/>
              </a:rPr>
              <a:t>) sobre todas las tablas de auditoría e historial temporal (</a:t>
            </a:r>
            <a:r>
              <a:rPr sz="1200" b="1">
                <a:solidFill>
                  <a:srgbClr val="3C3C3C"/>
                </a:solidFill>
                <a:latin typeface="Calibri"/>
              </a:rPr>
              <a:t>start_date</a:t>
            </a:r>
            <a:r>
              <a:rPr sz="1200" b="0">
                <a:solidFill>
                  <a:srgbClr val="282828"/>
                </a:solidFill>
                <a:latin typeface="Calibri"/>
              </a:rPr>
              <a:t>, </a:t>
            </a:r>
            <a:r>
              <a:rPr sz="1200" b="1">
                <a:solidFill>
                  <a:srgbClr val="3C3C3C"/>
                </a:solidFill>
                <a:latin typeface="Calibri"/>
              </a:rPr>
              <a:t>end_date</a:t>
            </a:r>
            <a:r>
              <a:rPr sz="1200" b="0">
                <a:solidFill>
                  <a:srgbClr val="282828"/>
                </a:solidFill>
                <a:latin typeface="Calibri"/>
              </a:rPr>
              <a:t>).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</a:t>
            </a:r>
            <a:r>
              <a:rPr sz="1200" b="1">
                <a:solidFill>
                  <a:srgbClr val="000000"/>
                </a:solidFill>
                <a:latin typeface="Calibri"/>
              </a:rPr>
              <a:t>`rol_administrador_bd`:</a:t>
            </a:r>
            <a:r>
              <a:rPr sz="1200" b="0">
                <a:solidFill>
                  <a:srgbClr val="282828"/>
                </a:solidFill>
                <a:latin typeface="Calibri"/>
              </a:rPr>
              <a:t> Control DDL/DCL total sin acceso a credenciales de usuarios finales.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Calibri"/>
              </a:defRPr>
            </a:pPr>
            <a:r>
              <a:t>Plan de Backups y Recuperación ante Fallos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97049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Calibri"/>
              </a:defRPr>
            </a:pPr>
            <a:r>
              <a:t>Curso: Base de Datos — Proyecto Final BGG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Calibri"/>
              </a:defRPr>
            </a:pPr>
            <a:r>
              <a:t>Diapositiva 13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Estrategia de Respaldos (Regla 3-2-1 en SQL Server)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</a:t>
            </a:r>
            <a:r>
              <a:rPr sz="1200" b="1">
                <a:solidFill>
                  <a:srgbClr val="000000"/>
                </a:solidFill>
                <a:latin typeface="Calibri"/>
              </a:rPr>
              <a:t>Backup Completo (Full):</a:t>
            </a:r>
            <a:r>
              <a:rPr sz="1200" b="0">
                <a:solidFill>
                  <a:srgbClr val="282828"/>
                </a:solidFill>
                <a:latin typeface="Calibri"/>
              </a:rPr>
              <a:t> Ejecución semanal programada (domingos a las 00:00 hrs) capturando la totalidad de la base de datos.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</a:t>
            </a:r>
            <a:r>
              <a:rPr sz="1200" b="1">
                <a:solidFill>
                  <a:srgbClr val="000000"/>
                </a:solidFill>
                <a:latin typeface="Calibri"/>
              </a:rPr>
              <a:t>Backup Diferencial:</a:t>
            </a:r>
            <a:r>
              <a:rPr sz="1200" b="0">
                <a:solidFill>
                  <a:srgbClr val="282828"/>
                </a:solidFill>
                <a:latin typeface="Calibri"/>
              </a:rPr>
              <a:t> Ejecución diaria de lunes a sábado (23:00 hrs) respaldando únicamente páginas modificadas desde el último Full.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</a:t>
            </a:r>
            <a:r>
              <a:rPr sz="1200" b="1">
                <a:solidFill>
                  <a:srgbClr val="000000"/>
                </a:solidFill>
                <a:latin typeface="Calibri"/>
              </a:rPr>
              <a:t>Backup de Log de Transacciones:</a:t>
            </a:r>
            <a:r>
              <a:rPr sz="1200" b="0">
                <a:solidFill>
                  <a:srgbClr val="282828"/>
                </a:solidFill>
                <a:latin typeface="Calibri"/>
              </a:rPr>
              <a:t> Ejecución periódica cada 1 hora en horario operativo (07:00 a 20:00 hrs) bajo Recovery Model </a:t>
            </a:r>
            <a:r>
              <a:rPr sz="1200" b="1">
                <a:solidFill>
                  <a:srgbClr val="3C3C3C"/>
                </a:solidFill>
                <a:latin typeface="Calibri"/>
              </a:rPr>
              <a:t>FULL</a:t>
            </a:r>
            <a:r>
              <a:rPr sz="1200" b="0">
                <a:solidFill>
                  <a:srgbClr val="282828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325880"/>
            <a:ext cx="5212080" cy="4663440"/>
          </a:xfrm>
          <a:prstGeom prst="roundRect">
            <a:avLst/>
          </a:prstGeom>
          <a:solidFill>
            <a:srgbClr val="FFF3CC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Métricas de Continuidad y Recuperación (RPO / RTO)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</a:t>
            </a:r>
            <a:r>
              <a:rPr sz="1200" b="1">
                <a:solidFill>
                  <a:srgbClr val="000000"/>
                </a:solidFill>
                <a:latin typeface="Calibri"/>
              </a:rPr>
              <a:t>RPO (Punto Objetivo de Recuperación):</a:t>
            </a:r>
            <a:r>
              <a:rPr sz="1200" b="0">
                <a:solidFill>
                  <a:srgbClr val="282828"/>
                </a:solidFill>
                <a:latin typeface="Calibri"/>
              </a:rPr>
              <a:t> Menor a 1 hora de pérdida potencial de transacciones ante caída catastrófica.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</a:t>
            </a:r>
            <a:r>
              <a:rPr sz="1200" b="1">
                <a:solidFill>
                  <a:srgbClr val="000000"/>
                </a:solidFill>
                <a:latin typeface="Calibri"/>
              </a:rPr>
              <a:t>RTO (Tiempo Objetivo de Recuperación):</a:t>
            </a:r>
            <a:r>
              <a:rPr sz="1200" b="0">
                <a:solidFill>
                  <a:srgbClr val="282828"/>
                </a:solidFill>
                <a:latin typeface="Calibri"/>
              </a:rPr>
              <a:t> Restauración completa del servicio en menos de 30 minutos.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</a:t>
            </a:r>
            <a:r>
              <a:rPr sz="1200" b="1">
                <a:solidFill>
                  <a:srgbClr val="000000"/>
                </a:solidFill>
                <a:latin typeface="Calibri"/>
              </a:rPr>
              <a:t>Validación Periódica:</a:t>
            </a:r>
            <a:r>
              <a:rPr sz="1200" b="0">
                <a:solidFill>
                  <a:srgbClr val="282828"/>
                </a:solidFill>
                <a:latin typeface="Calibri"/>
              </a:rPr>
              <a:t> Scripts automáticos de verificación de integridad de respaldo con </a:t>
            </a:r>
            <a:r>
              <a:rPr sz="1200" b="1">
                <a:solidFill>
                  <a:srgbClr val="3C3C3C"/>
                </a:solidFill>
                <a:latin typeface="Calibri"/>
              </a:rPr>
              <a:t>RESTORE VERIFYONLY</a:t>
            </a:r>
            <a:r>
              <a:rPr sz="1200" b="0">
                <a:solidFill>
                  <a:srgbClr val="282828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</a:t>
            </a:r>
            <a:r>
              <a:rPr sz="1200" b="1">
                <a:solidFill>
                  <a:srgbClr val="000000"/>
                </a:solidFill>
                <a:latin typeface="Calibri"/>
              </a:rPr>
              <a:t>Almacenamiento Fuera de Sitio:</a:t>
            </a:r>
            <a:r>
              <a:rPr sz="1200" b="0">
                <a:solidFill>
                  <a:srgbClr val="282828"/>
                </a:solidFill>
                <a:latin typeface="Calibri"/>
              </a:rPr>
              <a:t> Respaldo secundario cifrado para continuidad del negocio.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Calibri"/>
              </a:defRPr>
            </a:pPr>
            <a:r>
              <a:t>Demostración de Resultados: Consultas Clave en Vivo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97049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Calibri"/>
              </a:defRPr>
            </a:pPr>
            <a:r>
              <a:t>Curso: Base de Datos — Proyecto Final BGG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Calibri"/>
              </a:defRPr>
            </a:pPr>
            <a:r>
              <a:t>Diapositiva 14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728655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Evidencia 1: Identidad Única Multi-Rol: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Consulta con </a:t>
            </a:r>
            <a:r>
              <a:rPr sz="1200" b="1">
                <a:solidFill>
                  <a:srgbClr val="3C3C3C"/>
                </a:solidFill>
                <a:latin typeface="Calibri"/>
              </a:rPr>
              <a:t>JOIN</a:t>
            </a:r>
            <a:r>
              <a:rPr sz="1200" b="0">
                <a:solidFill>
                  <a:srgbClr val="282828"/>
                </a:solidFill>
                <a:latin typeface="Calibri"/>
              </a:rPr>
              <a:t> que demuestra cómo un mismo </a:t>
            </a:r>
            <a:r>
              <a:rPr sz="1200" b="1">
                <a:solidFill>
                  <a:srgbClr val="3C3C3C"/>
                </a:solidFill>
                <a:latin typeface="Calibri"/>
              </a:rPr>
              <a:t>party_id</a:t>
            </a:r>
            <a:r>
              <a:rPr sz="1200" b="0">
                <a:solidFill>
                  <a:srgbClr val="282828"/>
                </a:solidFill>
                <a:latin typeface="Calibri"/>
              </a:rPr>
              <a:t> actúa en tiempo real como Prestatario y Aval sin duplicar filas de identidad.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Evidencia 2: Consulta Recursiva de Red de Avales (JOIN sobre `PARTY_RELATIONSHIP`):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Demostración de trazabilidad de garantías cruzadas mediante auto-unión (</a:t>
            </a:r>
            <a:r>
              <a:rPr sz="1200" b="1">
                <a:solidFill>
                  <a:srgbClr val="3C3C3C"/>
                </a:solidFill>
                <a:latin typeface="Calibri"/>
              </a:rPr>
              <a:t>INNER JOIN</a:t>
            </a:r>
            <a:r>
              <a:rPr sz="1200" b="0">
                <a:solidFill>
                  <a:srgbClr val="282828"/>
                </a:solidFill>
                <a:latin typeface="Calibri"/>
              </a:rPr>
              <a:t> recursivo) para detectar si un aval está sobrecomprometido en múltiples créditos vigentes.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300" b="0">
                <a:solidFill>
                  <a:srgbClr val="000000"/>
                </a:solidFill>
                <a:latin typeface="Calibri"/>
              </a:rPr>
              <a:t>•  </a:t>
            </a:r>
            <a:r>
              <a:rPr sz="1300" b="1">
                <a:solidFill>
                  <a:srgbClr val="000000"/>
                </a:solidFill>
                <a:latin typeface="Calibri"/>
              </a:rPr>
              <a:t>Evidencia 3: Liquidación Diaria de Cobranza en Ruta: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    ▪  Consulta transaccional agrupada que calcula el monto total recaudado por cada cobrador (</a:t>
            </a:r>
            <a:r>
              <a:rPr sz="1200" b="1">
                <a:solidFill>
                  <a:srgbClr val="3C3C3C"/>
                </a:solidFill>
                <a:latin typeface="Calibri"/>
              </a:rPr>
              <a:t>party_role_id</a:t>
            </a:r>
            <a:r>
              <a:rPr sz="1200" b="0">
                <a:solidFill>
                  <a:srgbClr val="282828"/>
                </a:solidFill>
                <a:latin typeface="Calibri"/>
              </a:rPr>
              <a:t>) en una fecha determinada cruzando </a:t>
            </a:r>
            <a:r>
              <a:rPr sz="1200" b="1">
                <a:solidFill>
                  <a:srgbClr val="3C3C3C"/>
                </a:solidFill>
                <a:latin typeface="Calibri"/>
              </a:rPr>
              <a:t>PAGO</a:t>
            </a:r>
            <a:r>
              <a:rPr sz="1200" b="0">
                <a:solidFill>
                  <a:srgbClr val="282828"/>
                </a:solidFill>
                <a:latin typeface="Calibri"/>
              </a:rPr>
              <a:t>, </a:t>
            </a:r>
            <a:r>
              <a:rPr sz="1200" b="1">
                <a:solidFill>
                  <a:srgbClr val="3C3C3C"/>
                </a:solidFill>
                <a:latin typeface="Calibri"/>
              </a:rPr>
              <a:t>CREDITO</a:t>
            </a:r>
            <a:r>
              <a:rPr sz="1200" b="0">
                <a:solidFill>
                  <a:srgbClr val="282828"/>
                </a:solidFill>
                <a:latin typeface="Calibri"/>
              </a:rPr>
              <a:t> y </a:t>
            </a:r>
            <a:r>
              <a:rPr sz="1200" b="1">
                <a:solidFill>
                  <a:srgbClr val="3C3C3C"/>
                </a:solidFill>
                <a:latin typeface="Calibri"/>
              </a:rPr>
              <a:t>PERSON</a:t>
            </a:r>
            <a:r>
              <a:rPr sz="1200" b="0">
                <a:solidFill>
                  <a:srgbClr val="28282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9611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Calibri"/>
              </a:defRPr>
            </a:pPr>
            <a:r>
              <a:t>Conclusiones y Recomendaciones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8655" cy="36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320040"/>
            <a:ext cx="970493" cy="685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6263640"/>
            <a:ext cx="10728655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27648"/>
            <a:ext cx="73152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87878"/>
                </a:solidFill>
                <a:latin typeface="Calibri"/>
              </a:defRPr>
            </a:pPr>
            <a:r>
              <a:t>Curso: Base de Datos — Proyecto Final BGG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27648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Calibri"/>
              </a:defRPr>
            </a:pPr>
            <a:r>
              <a:t>Diapositiva 15 /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Conclusiones Técnicas del Proyecto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El patrón PARTY eliminó de raíz la redundancia de identidades y la pérdida de trazabilidad que aquejaban al modelo AS-IS de BGG.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La arquitectura en Microsoft SQL Server garantiza consistencia transaccional ACID estricta para préstamos y liquidaciones de cobranza en ruta.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El modelado de vínculos (</a:t>
            </a:r>
            <a:r>
              <a:rPr sz="1200" b="1">
                <a:solidFill>
                  <a:srgbClr val="3C3C3C"/>
                </a:solidFill>
                <a:latin typeface="Calibri"/>
              </a:rPr>
              <a:t>PARTY_RELATIONSHIP</a:t>
            </a:r>
            <a:r>
              <a:rPr sz="1200" b="0">
                <a:solidFill>
                  <a:srgbClr val="282828"/>
                </a:solidFill>
                <a:latin typeface="Calibri"/>
              </a:rPr>
              <a:t>) permite rastrear avales activos y reasignaciones de cobradores sin alterar el esquema físico relacional.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325880"/>
            <a:ext cx="5212080" cy="4663440"/>
          </a:xfrm>
          <a:prstGeom prst="roundRect">
            <a:avLst/>
          </a:prstGeom>
          <a:solidFill>
            <a:srgbClr val="FFF3CC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 b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Recomendaciones de Ingeniería y Escalabilidad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</a:t>
            </a:r>
            <a:r>
              <a:rPr sz="1200" b="1">
                <a:solidFill>
                  <a:srgbClr val="000000"/>
                </a:solidFill>
                <a:latin typeface="Calibri"/>
              </a:rPr>
              <a:t>Vistas Indexadas (Indexed Views):</a:t>
            </a:r>
            <a:r>
              <a:rPr sz="1200" b="0">
                <a:solidFill>
                  <a:srgbClr val="282828"/>
                </a:solidFill>
                <a:latin typeface="Calibri"/>
              </a:rPr>
              <a:t> Implementar vistas materializadas en SQL Server para acelerar consultas analíticas frecuentes de cobranza diaria.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</a:t>
            </a:r>
            <a:r>
              <a:rPr sz="1200" b="1">
                <a:solidFill>
                  <a:srgbClr val="000000"/>
                </a:solidFill>
                <a:latin typeface="Calibri"/>
              </a:rPr>
              <a:t>Triggers de Validación Temporal:</a:t>
            </a:r>
            <a:r>
              <a:rPr sz="1200" b="0">
                <a:solidFill>
                  <a:srgbClr val="282828"/>
                </a:solidFill>
                <a:latin typeface="Calibri"/>
              </a:rPr>
              <a:t> Incorporar restricciones procedurales para impedir el solapamiento de vigencias en </a:t>
            </a:r>
            <a:r>
              <a:rPr sz="1200" b="1">
                <a:solidFill>
                  <a:srgbClr val="3C3C3C"/>
                </a:solidFill>
                <a:latin typeface="Calibri"/>
              </a:rPr>
              <a:t>PARTY_ROLE</a:t>
            </a:r>
            <a:r>
              <a:rPr sz="1200" b="0">
                <a:solidFill>
                  <a:srgbClr val="282828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Calibri"/>
              </a:rPr>
              <a:t>•  </a:t>
            </a:r>
            <a:r>
              <a:rPr sz="1200" b="1">
                <a:solidFill>
                  <a:srgbClr val="000000"/>
                </a:solidFill>
                <a:latin typeface="Calibri"/>
              </a:rPr>
              <a:t>Automatización de Respaldos:</a:t>
            </a:r>
            <a:r>
              <a:rPr sz="1200" b="0">
                <a:solidFill>
                  <a:srgbClr val="282828"/>
                </a:solidFill>
                <a:latin typeface="Calibri"/>
              </a:rPr>
              <a:t> Configurar alertas automatizadas en SQL Server Agent para notificar desviaciones en el plan de backups.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